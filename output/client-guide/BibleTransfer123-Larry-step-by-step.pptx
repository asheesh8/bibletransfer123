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  <Override PartName="/ppt/slides/slide18.xml" ContentType="application/vnd.openxmlformats-officedocument.presentationml.slide+xml"/>
  <Override PartName="/ppt/notesSlides/notesSlide18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e137cde12e144f11" /><Relationship Type="http://schemas.openxmlformats.org/officeDocument/2006/relationships/extended-properties" Target="/docProps/app.xml" Id="R83dbc973e3c6426d" /><Relationship Type="http://schemas.openxmlformats.org/officeDocument/2006/relationships/officeDocument" Target="/ppt/presentation.xml" Id="Rd92406b52cba452c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31d4ef070e374cf2"/>
  </p:sldMasterIdLst>
  <p:notesMasterIdLst>
    <p:notesMasterId xmlns:r="http://schemas.openxmlformats.org/officeDocument/2006/relationships" r:id="R4ce111d149cf4e8f"/>
  </p:notesMasterIdLst>
  <p:sldIdLst>
    <p:sldId xmlns:r="http://schemas.openxmlformats.org/officeDocument/2006/relationships" id="256" r:id="Rac36d0fd5d3b4e32"/>
    <p:sldId xmlns:r="http://schemas.openxmlformats.org/officeDocument/2006/relationships" id="257" r:id="R1a874bfe6cf64586"/>
    <p:sldId xmlns:r="http://schemas.openxmlformats.org/officeDocument/2006/relationships" id="258" r:id="R0accb930b2684d87"/>
    <p:sldId xmlns:r="http://schemas.openxmlformats.org/officeDocument/2006/relationships" id="259" r:id="R6954cc0040794ec2"/>
    <p:sldId xmlns:r="http://schemas.openxmlformats.org/officeDocument/2006/relationships" id="260" r:id="Rbd3d0e2e91e74f82"/>
    <p:sldId xmlns:r="http://schemas.openxmlformats.org/officeDocument/2006/relationships" id="261" r:id="Rf8bed68a9c77469f"/>
    <p:sldId xmlns:r="http://schemas.openxmlformats.org/officeDocument/2006/relationships" id="262" r:id="Rc0ac3b655d0c47fe"/>
    <p:sldId xmlns:r="http://schemas.openxmlformats.org/officeDocument/2006/relationships" id="263" r:id="R584ccb68fe3d457c"/>
    <p:sldId xmlns:r="http://schemas.openxmlformats.org/officeDocument/2006/relationships" id="264" r:id="R659a4910d0694f77"/>
    <p:sldId xmlns:r="http://schemas.openxmlformats.org/officeDocument/2006/relationships" id="265" r:id="R1de5c66a77f54dfd"/>
    <p:sldId xmlns:r="http://schemas.openxmlformats.org/officeDocument/2006/relationships" id="266" r:id="R4c662f748cb34ebd"/>
    <p:sldId xmlns:r="http://schemas.openxmlformats.org/officeDocument/2006/relationships" id="267" r:id="Rded737f3fc924cd7"/>
    <p:sldId xmlns:r="http://schemas.openxmlformats.org/officeDocument/2006/relationships" id="268" r:id="R96e6d68dede84626"/>
    <p:sldId xmlns:r="http://schemas.openxmlformats.org/officeDocument/2006/relationships" id="269" r:id="R445c3d50b6c2440a"/>
    <p:sldId xmlns:r="http://schemas.openxmlformats.org/officeDocument/2006/relationships" id="270" r:id="Rd9262cfa5e424be1"/>
    <p:sldId xmlns:r="http://schemas.openxmlformats.org/officeDocument/2006/relationships" id="271" r:id="R892bca652fc146cf"/>
    <p:sldId xmlns:r="http://schemas.openxmlformats.org/officeDocument/2006/relationships" id="272" r:id="R990c1c7cafc040bf"/>
    <p:sldId xmlns:r="http://schemas.openxmlformats.org/officeDocument/2006/relationships" id="273" r:id="R9032177365694509"/>
  </p:sldIdLst>
  <p:sldSz cx="12192000" cy="7620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348347912f544130" /><Relationship Type="http://schemas.openxmlformats.org/officeDocument/2006/relationships/slideMaster" Target="/ppt/slideMasters/slideMaster1.xml" Id="R31d4ef070e374cf2" /><Relationship Type="http://schemas.openxmlformats.org/officeDocument/2006/relationships/notesMaster" Target="/ppt/notesMasters/notesMaster1.xml" Id="R4ce111d149cf4e8f" /><Relationship Type="http://schemas.openxmlformats.org/officeDocument/2006/relationships/presProps" Target="/ppt/presProps.xml" Id="R992020dc61594f96" /><Relationship Type="http://schemas.openxmlformats.org/officeDocument/2006/relationships/tableStyles" Target="/ppt/tableStyles.xml" Id="R0e4ec9cab95a45fc" /><Relationship Type="http://schemas.openxmlformats.org/officeDocument/2006/relationships/slide" Target="/ppt/slides/slide1.xml" Id="Rac36d0fd5d3b4e32" /><Relationship Type="http://schemas.openxmlformats.org/officeDocument/2006/relationships/slide" Target="/ppt/slides/slide2.xml" Id="R1a874bfe6cf64586" /><Relationship Type="http://schemas.openxmlformats.org/officeDocument/2006/relationships/slide" Target="/ppt/slides/slide3.xml" Id="R0accb930b2684d87" /><Relationship Type="http://schemas.openxmlformats.org/officeDocument/2006/relationships/slide" Target="/ppt/slides/slide4.xml" Id="R6954cc0040794ec2" /><Relationship Type="http://schemas.openxmlformats.org/officeDocument/2006/relationships/slide" Target="/ppt/slides/slide5.xml" Id="Rbd3d0e2e91e74f82" /><Relationship Type="http://schemas.openxmlformats.org/officeDocument/2006/relationships/slide" Target="/ppt/slides/slide6.xml" Id="Rf8bed68a9c77469f" /><Relationship Type="http://schemas.openxmlformats.org/officeDocument/2006/relationships/slide" Target="/ppt/slides/slide7.xml" Id="Rc0ac3b655d0c47fe" /><Relationship Type="http://schemas.openxmlformats.org/officeDocument/2006/relationships/slide" Target="/ppt/slides/slide8.xml" Id="R584ccb68fe3d457c" /><Relationship Type="http://schemas.openxmlformats.org/officeDocument/2006/relationships/slide" Target="/ppt/slides/slide9.xml" Id="R659a4910d0694f77" /><Relationship Type="http://schemas.openxmlformats.org/officeDocument/2006/relationships/slide" Target="/ppt/slides/slide10.xml" Id="R1de5c66a77f54dfd" /><Relationship Type="http://schemas.openxmlformats.org/officeDocument/2006/relationships/slide" Target="/ppt/slides/slide11.xml" Id="R4c662f748cb34ebd" /><Relationship Type="http://schemas.openxmlformats.org/officeDocument/2006/relationships/slide" Target="/ppt/slides/slide12.xml" Id="Rded737f3fc924cd7" /><Relationship Type="http://schemas.openxmlformats.org/officeDocument/2006/relationships/slide" Target="/ppt/slides/slide13.xml" Id="R96e6d68dede84626" /><Relationship Type="http://schemas.openxmlformats.org/officeDocument/2006/relationships/slide" Target="/ppt/slides/slide14.xml" Id="R445c3d50b6c2440a" /><Relationship Type="http://schemas.openxmlformats.org/officeDocument/2006/relationships/slide" Target="/ppt/slides/slide15.xml" Id="Rd9262cfa5e424be1" /><Relationship Type="http://schemas.openxmlformats.org/officeDocument/2006/relationships/slide" Target="/ppt/slides/slide16.xml" Id="R892bca652fc146cf" /><Relationship Type="http://schemas.openxmlformats.org/officeDocument/2006/relationships/slide" Target="/ppt/slides/slide17.xml" Id="R990c1c7cafc040bf" /><Relationship Type="http://schemas.openxmlformats.org/officeDocument/2006/relationships/slide" Target="/ppt/slides/slide18.xml" Id="R9032177365694509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2fc0bfb5685549fc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076ddb61e9a64a42" /><Relationship Type="http://schemas.openxmlformats.org/officeDocument/2006/relationships/notesMaster" Target="/ppt/notesMasters/notesMaster1.xml" Id="R59cf3106a3d145db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ae663cbc9d9d4939" /><Relationship Type="http://schemas.openxmlformats.org/officeDocument/2006/relationships/notesMaster" Target="/ppt/notesMasters/notesMaster1.xml" Id="Rb4111e5a2f88444f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f0a84c52f6fa4a3d" /><Relationship Type="http://schemas.openxmlformats.org/officeDocument/2006/relationships/notesMaster" Target="/ppt/notesMasters/notesMaster1.xml" Id="R33a05f249473467e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963ab18e32094058" /><Relationship Type="http://schemas.openxmlformats.org/officeDocument/2006/relationships/notesMaster" Target="/ppt/notesMasters/notesMaster1.xml" Id="R975aaba8475444ea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ea67b6f01ad845bf" /><Relationship Type="http://schemas.openxmlformats.org/officeDocument/2006/relationships/notesMaster" Target="/ppt/notesMasters/notesMaster1.xml" Id="R97639c009c99477b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7419207a46374264" /><Relationship Type="http://schemas.openxmlformats.org/officeDocument/2006/relationships/notesMaster" Target="/ppt/notesMasters/notesMaster1.xml" Id="R52fe21c642a74b2b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6a1237a44eb74c93" /><Relationship Type="http://schemas.openxmlformats.org/officeDocument/2006/relationships/notesMaster" Target="/ppt/notesMasters/notesMaster1.xml" Id="R24debcd4dc55457e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6302e4be373d4b37" /><Relationship Type="http://schemas.openxmlformats.org/officeDocument/2006/relationships/notesMaster" Target="/ppt/notesMasters/notesMaster1.xml" Id="Re4864e11ec7b4fbd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76af746677584b48" /><Relationship Type="http://schemas.openxmlformats.org/officeDocument/2006/relationships/notesMaster" Target="/ppt/notesMasters/notesMaster1.xml" Id="R82a093291c8948cf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42b6a8963e4144ce" /><Relationship Type="http://schemas.openxmlformats.org/officeDocument/2006/relationships/notesMaster" Target="/ppt/notesMasters/notesMaster1.xml" Id="R18154615e3a2487a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e75cc854b2834d21" /><Relationship Type="http://schemas.openxmlformats.org/officeDocument/2006/relationships/notesMaster" Target="/ppt/notesMasters/notesMaster1.xml" Id="Rb1c317372caa4ecc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9d33a68ab7e34715" /><Relationship Type="http://schemas.openxmlformats.org/officeDocument/2006/relationships/notesMaster" Target="/ppt/notesMasters/notesMaster1.xml" Id="R351395f8f3cb41c9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8597cecf540c4cab" /><Relationship Type="http://schemas.openxmlformats.org/officeDocument/2006/relationships/notesMaster" Target="/ppt/notesMasters/notesMaster1.xml" Id="R873dbb1da8004a56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070bab63bf9d49a4" /><Relationship Type="http://schemas.openxmlformats.org/officeDocument/2006/relationships/notesMaster" Target="/ppt/notesMasters/notesMaster1.xml" Id="R36e73c33c4684626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f6940b771d4d4911" /><Relationship Type="http://schemas.openxmlformats.org/officeDocument/2006/relationships/notesMaster" Target="/ppt/notesMasters/notesMaster1.xml" Id="Rfc7401124a0c4997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26301f9d4aaf4a6d" /><Relationship Type="http://schemas.openxmlformats.org/officeDocument/2006/relationships/notesMaster" Target="/ppt/notesMasters/notesMaster1.xml" Id="Reef76794c5a24589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ad2bec43629d4736" /><Relationship Type="http://schemas.openxmlformats.org/officeDocument/2006/relationships/notesMaster" Target="/ppt/notesMasters/notesMaster1.xml" Id="Re9ed247487154166" /></Relationships>
</file>

<file path=ppt/notesSlides/_rels/notesSlide18.xml.rels>&#65279;<?xml version="1.0" encoding="utf-8"?><Relationships xmlns="http://schemas.openxmlformats.org/package/2006/relationships"><Relationship Type="http://schemas.openxmlformats.org/officeDocument/2006/relationships/slide" Target="/ppt/slides/slide18.xml" Id="R5ed001699ad841af" /><Relationship Type="http://schemas.openxmlformats.org/officeDocument/2006/relationships/notesMaster" Target="/ppt/notesMasters/notesMaster1.xml" Id="R8b00b32775bc44c1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Screenshots captured from the current local BibleTransfer123 app on 17 September 2026. Example pairing codes change each time.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Screenshots captured from the current local BibleTransfer123 app on 17 September 2026. Example pairing codes change each time.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Screenshots captured from the current local BibleTransfer123 app on 17 September 2026. Example pairing codes change each time.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Screenshots captured from the current local BibleTransfer123 app on 17 September 2026. Example pairing codes change each time.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Screenshots captured from the current local BibleTransfer123 app on 17 September 2026. Example pairing codes change each time.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Screenshots captured from the current local BibleTransfer123 app on 17 September 2026. Example pairing codes change each time.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Screenshots captured from the current local BibleTransfer123 app on 17 September 2026. Example pairing codes change each time.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Screenshots captured from the current local BibleTransfer123 app on 17 September 2026. Example pairing codes change each time.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Screenshots captured from the current local BibleTransfer123 app on 17 September 2026. Example pairing codes change each time.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Screenshots captured from the current local BibleTransfer123 app on 17 September 2026. Example pairing codes change each time.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Screenshots captured from the current local BibleTransfer123 app on 17 September 2026. Example pairing codes change each time.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Screenshots captured from the current local BibleTransfer123 app on 17 September 2026. Example pairing codes change each time.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Screenshots captured from the current local BibleTransfer123 app on 17 September 2026. Example pairing codes change each time.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Screenshots captured from the current local BibleTransfer123 app on 17 September 2026. Example pairing codes change each time.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Screenshots captured from the current local BibleTransfer123 app on 17 September 2026. Example pairing codes change each time.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Screenshots captured from the current local BibleTransfer123 app on 17 September 2026. Example pairing codes change each time.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Screenshots captured from the current local BibleTransfer123 app on 17 September 2026. Example pairing codes change each time.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dc61f62d67f454f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2a58890bbed34762" /><Relationship Type="http://schemas.openxmlformats.org/officeDocument/2006/relationships/slideLayout" Target="/ppt/slideLayouts/slideLayout1.xml" Id="Rb7c39ad63af54e28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b7c39ad63af54e28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effdc4f8a17410a" /><Relationship Type="http://schemas.openxmlformats.org/officeDocument/2006/relationships/image" Target="/ppt/media/image.png" Id="R833f7805b9d044c7" /><Relationship Type="http://schemas.openxmlformats.org/officeDocument/2006/relationships/notesSlide" Target="/ppt/notesSlides/notesSlide1.xml" Id="Rb4957007dc854261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6a77585e90840e9" /><Relationship Type="http://schemas.openxmlformats.org/officeDocument/2006/relationships/image" Target="/ppt/media/image2.png" Id="Ra85eceec11a545fe" /><Relationship Type="http://schemas.openxmlformats.org/officeDocument/2006/relationships/notesSlide" Target="/ppt/notesSlides/notesSlide2.xml" Id="Rf07da9989d3742df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e63a01c4b024dec" /><Relationship Type="http://schemas.openxmlformats.org/officeDocument/2006/relationships/image" Target="/ppt/media/image3.png" Id="R4250b4be65dd49e4" /><Relationship Type="http://schemas.openxmlformats.org/officeDocument/2006/relationships/notesSlide" Target="/ppt/notesSlides/notesSlide3.xml" Id="R9566f24c82754f34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bf52167da634d92" /><Relationship Type="http://schemas.openxmlformats.org/officeDocument/2006/relationships/image" Target="/ppt/media/image4.png" Id="Rb2e12ef778134a4f" /><Relationship Type="http://schemas.openxmlformats.org/officeDocument/2006/relationships/notesSlide" Target="/ppt/notesSlides/notesSlide4.xml" Id="R64225d168e2d478c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a70082897554d83" /><Relationship Type="http://schemas.openxmlformats.org/officeDocument/2006/relationships/image" Target="/ppt/media/image5.png" Id="R9352edb4e805467a" /><Relationship Type="http://schemas.openxmlformats.org/officeDocument/2006/relationships/notesSlide" Target="/ppt/notesSlides/notesSlide5.xml" Id="R9daa49e4880e4ab7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886cd8b144444f5" /><Relationship Type="http://schemas.openxmlformats.org/officeDocument/2006/relationships/image" Target="/ppt/media/image6.png" Id="R7c2d7cbb689e4178" /><Relationship Type="http://schemas.openxmlformats.org/officeDocument/2006/relationships/notesSlide" Target="/ppt/notesSlides/notesSlide6.xml" Id="R071a5ea4ed694f75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b896145f18c491d" /><Relationship Type="http://schemas.openxmlformats.org/officeDocument/2006/relationships/image" Target="/ppt/media/image7.png" Id="R40000c2521be42c6" /><Relationship Type="http://schemas.openxmlformats.org/officeDocument/2006/relationships/notesSlide" Target="/ppt/notesSlides/notesSlide7.xml" Id="Rb3188efa1c554dcc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2b3560611c94c64" /><Relationship Type="http://schemas.openxmlformats.org/officeDocument/2006/relationships/image" Target="/ppt/media/image8.png" Id="R7d0757bc304642f6" /><Relationship Type="http://schemas.openxmlformats.org/officeDocument/2006/relationships/notesSlide" Target="/ppt/notesSlides/notesSlide8.xml" Id="Rcbcb312ea1844cae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a4d499f671d4237" /><Relationship Type="http://schemas.openxmlformats.org/officeDocument/2006/relationships/image" Target="/ppt/media/image9.png" Id="R595a8b7618df4b97" /><Relationship Type="http://schemas.openxmlformats.org/officeDocument/2006/relationships/notesSlide" Target="/ppt/notesSlides/notesSlide9.xml" Id="R3a54d85d3fc248ce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8880f60fa764b61" /><Relationship Type="http://schemas.openxmlformats.org/officeDocument/2006/relationships/image" Target="/ppt/media/image10.png" Id="Reaef9c54bdd34e06" /><Relationship Type="http://schemas.openxmlformats.org/officeDocument/2006/relationships/notesSlide" Target="/ppt/notesSlides/notesSlide10.xml" Id="Rb96a6d8837e44802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cb8c3cf3c3740c6" /><Relationship Type="http://schemas.openxmlformats.org/officeDocument/2006/relationships/image" Target="/ppt/media/image11.png" Id="Re15770bd4b8046bd" /><Relationship Type="http://schemas.openxmlformats.org/officeDocument/2006/relationships/notesSlide" Target="/ppt/notesSlides/notesSlide11.xml" Id="Ree47533ae32942d8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a3fbca4761b478b" /><Relationship Type="http://schemas.openxmlformats.org/officeDocument/2006/relationships/image" Target="/ppt/media/image12.png" Id="R1075553a33624164" /><Relationship Type="http://schemas.openxmlformats.org/officeDocument/2006/relationships/notesSlide" Target="/ppt/notesSlides/notesSlide12.xml" Id="R6f7e7b982f2345ac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87e7acca22a4d30" /><Relationship Type="http://schemas.openxmlformats.org/officeDocument/2006/relationships/image" Target="/ppt/media/image13.png" Id="Rfabca643a27c4772" /><Relationship Type="http://schemas.openxmlformats.org/officeDocument/2006/relationships/notesSlide" Target="/ppt/notesSlides/notesSlide13.xml" Id="R5d0cc96fba484f31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9b20e2b77284c84" /><Relationship Type="http://schemas.openxmlformats.org/officeDocument/2006/relationships/image" Target="/ppt/media/image14.png" Id="R2611711a95ca499c" /><Relationship Type="http://schemas.openxmlformats.org/officeDocument/2006/relationships/notesSlide" Target="/ppt/notesSlides/notesSlide14.xml" Id="Rcf801eb2bd234393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53e4d705bc347a2" /><Relationship Type="http://schemas.openxmlformats.org/officeDocument/2006/relationships/image" Target="/ppt/media/image15.png" Id="R772c73961c0e4072" /><Relationship Type="http://schemas.openxmlformats.org/officeDocument/2006/relationships/notesSlide" Target="/ppt/notesSlides/notesSlide15.xml" Id="Rf918ac4f4cfe4dbe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f82d9373a4d4170" /><Relationship Type="http://schemas.openxmlformats.org/officeDocument/2006/relationships/image" Target="/ppt/media/image16.png" Id="Rce238406b7754330" /><Relationship Type="http://schemas.openxmlformats.org/officeDocument/2006/relationships/notesSlide" Target="/ppt/notesSlides/notesSlide16.xml" Id="Rb122180cb58246f5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398e2e7d4fb4520" /><Relationship Type="http://schemas.openxmlformats.org/officeDocument/2006/relationships/image" Target="/ppt/media/image17.png" Id="R9e5977e54d834b62" /><Relationship Type="http://schemas.openxmlformats.org/officeDocument/2006/relationships/notesSlide" Target="/ppt/notesSlides/notesSlide17.xml" Id="R9d06e3e8fbb3478b" /></Relationships>
</file>

<file path=ppt/slides/_rels/slide1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73df932eeb74dee" /><Relationship Type="http://schemas.openxmlformats.org/officeDocument/2006/relationships/image" Target="/ppt/media/image18.png" Id="R46140424d42b49fb" /><Relationship Type="http://schemas.openxmlformats.org/officeDocument/2006/relationships/notesSlide" Target="/ppt/notesSlides/notesSlide18.xml" Id="R408dd5047f5e4d99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DF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BBE7AC5-8806-49A0-9610-90B5A22838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04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72471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BD2BB30-F57E-4AA7-8303-F9CD79ABE2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76225"/>
            <a:ext cx="4953000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572471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572471"/>
                </a:solidFill>
                <a:latin typeface="Arial"/>
                <a:ea typeface="Arial"/>
                <a:cs typeface="Arial"/>
              </a:rPr>
              <a:t>BibleTransfer123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F3598BB-68D7-411F-97EA-E64BEC7E6D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790575"/>
            <a:ext cx="2381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D92C32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D92C32"/>
                </a:solidFill>
                <a:latin typeface="Arial"/>
                <a:ea typeface="Arial"/>
                <a:cs typeface="Arial"/>
              </a:rPr>
              <a:t>START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CA67E19-A4DD-4DDD-9D4A-855DFCE06F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400050"/>
            <a:ext cx="5524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572471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572471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943BD33-1541-4C6A-9D0D-01780AE8C5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7010400"/>
            <a:ext cx="69532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DED0"/>
          </a:solidFill>
          <a:ln xmlns:a="http://schemas.openxmlformats.org/drawingml/2006/main" w="0">
            <a:noFill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C9B1A73-3ED2-4B00-8F24-7940FA5E00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7153275"/>
            <a:ext cx="52387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534C5B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34C5B"/>
                </a:solidFill>
                <a:latin typeface="Arial"/>
                <a:ea typeface="Arial"/>
                <a:cs typeface="Arial"/>
              </a:rPr>
              <a:t>Larry’s step-by-step guide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1FC222E-7FE8-45EF-AB43-C6DEB650B5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409700"/>
            <a:ext cx="6858000" cy="1181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225" b="1">
                <a:solidFill>
                  <a:srgbClr val="261C34"/>
                </a:solidFill>
                <a:latin typeface="Arial"/>
                <a:ea typeface="Arial"/>
                <a:cs typeface="Arial"/>
              </a:defRPr>
            </a:pPr>
            <a:r>
              <a:rPr sz="3225" b="1">
                <a:solidFill>
                  <a:srgbClr val="261C34"/>
                </a:solidFill>
                <a:latin typeface="Arial"/>
                <a:ea typeface="Arial"/>
                <a:cs typeface="Arial"/>
              </a:rPr>
              <a:t>The Library, made simple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A83C675-2F65-416D-8E89-BE7F18E02B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019425"/>
            <a:ext cx="1333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A522"/>
          </a:solidFill>
          <a:ln xmlns:a="http://schemas.openxmlformats.org/drawingml/2006/main" w="0">
            <a:noFill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CF3EC51-3EC6-440D-9FC6-BCDB52DC0C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933700"/>
            <a:ext cx="6334125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175" b="0">
                <a:solidFill>
                  <a:srgbClr val="261C34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261C34"/>
                </a:solidFill>
                <a:latin typeface="Arial"/>
                <a:ea typeface="Arial"/>
                <a:cs typeface="Arial"/>
              </a:rPr>
              <a:t>Find a film, Bible text, or audio recording.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F8EF16B-03C4-4CB0-9F00-38E0152629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086225"/>
            <a:ext cx="1333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A522"/>
          </a:solidFill>
          <a:ln xmlns:a="http://schemas.openxmlformats.org/drawingml/2006/main" w="0">
            <a:noFill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2D49CC6-D954-4DAA-B481-34CB08A909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4000500"/>
            <a:ext cx="6334125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175" b="0">
                <a:solidFill>
                  <a:srgbClr val="261C34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261C34"/>
                </a:solidFill>
                <a:latin typeface="Arial"/>
                <a:ea typeface="Arial"/>
                <a:cs typeface="Arial"/>
              </a:rPr>
              <a:t>Save what you want on your phone.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9997CD7-F4F6-4053-8CEF-A1A7C45904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5153025"/>
            <a:ext cx="1333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A522"/>
          </a:solidFill>
          <a:ln xmlns:a="http://schemas.openxmlformats.org/drawingml/2006/main" w="0">
            <a:noFill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BC21EF2-F423-4369-A684-4ED1F648D4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5067300"/>
            <a:ext cx="6334125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175" b="0">
                <a:solidFill>
                  <a:srgbClr val="261C34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261C34"/>
                </a:solidFill>
                <a:latin typeface="Arial"/>
                <a:ea typeface="Arial"/>
                <a:cs typeface="Arial"/>
              </a:rPr>
              <a:t>Send a saved file to another person.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E36A221-9764-4C06-8012-D66A4C7C6A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5943600"/>
            <a:ext cx="6791325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534C5B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534C5B"/>
                </a:solidFill>
                <a:latin typeface="Arial"/>
                <a:ea typeface="Arial"/>
                <a:cs typeface="Arial"/>
              </a:rPr>
              <a:t>The red circle on each page shows what to tap.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FCE6099-B298-413A-BD98-B6C6861439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100" y="161925"/>
            <a:ext cx="3600450" cy="7296150"/>
          </a:xfrm>
          <a:prstGeom xmlns:a="http://schemas.openxmlformats.org/drawingml/2006/main" prst="roundRect">
            <a:avLst>
              <a:gd name="adj" fmla="val 211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D9D1C5"/>
            </a:solidFill>
          </a:ln>
        </p:spPr>
      </p:sp>
      <p:pic>
        <p:nvPicPr>
          <p:cNvPr id="3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33f7805b9d044c7"/>
          <a:stretch xmlns:a="http://schemas.openxmlformats.org/drawingml/2006/main"/>
        </p:blipFill>
        <p:spPr>
          <a:xfrm xmlns:a="http://schemas.openxmlformats.org/drawingml/2006/main">
            <a:off x="8123661" y="219075"/>
            <a:ext cx="3431328" cy="718185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49879588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DF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BDD8E5A-0B3F-40C9-ADB1-6B0DBC05EC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04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72471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99D32F8-5D44-4E65-84E5-7169B4444D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76225"/>
            <a:ext cx="4953000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572471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572471"/>
                </a:solidFill>
                <a:latin typeface="Arial"/>
                <a:ea typeface="Arial"/>
                <a:cs typeface="Arial"/>
              </a:rPr>
              <a:t>BibleTransfer123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87F188E-FD4F-45A9-A1A0-769AB0439B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790575"/>
            <a:ext cx="2381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D92C32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D92C32"/>
                </a:solidFill>
                <a:latin typeface="Arial"/>
                <a:ea typeface="Arial"/>
                <a:cs typeface="Arial"/>
              </a:rPr>
              <a:t>EXPLORE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BB7AB22-A605-483B-ACB2-43DE4C2A40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400050"/>
            <a:ext cx="5524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572471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572471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D0474A3-64A6-46DF-B6E8-5D1AD8BE9A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7010400"/>
            <a:ext cx="69532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DED0"/>
          </a:solidFill>
          <a:ln xmlns:a="http://schemas.openxmlformats.org/drawingml/2006/main" w="0">
            <a:noFill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506CE13-BE8A-4922-9062-00D0638A57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7153275"/>
            <a:ext cx="52387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534C5B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34C5B"/>
                </a:solidFill>
                <a:latin typeface="Arial"/>
                <a:ea typeface="Arial"/>
                <a:cs typeface="Arial"/>
              </a:rPr>
              <a:t>Larry’s step-by-step guide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5503C5C-290A-4D19-A16D-6B18C9ECA3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409700"/>
            <a:ext cx="6858000" cy="1181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225" b="1">
                <a:solidFill>
                  <a:srgbClr val="261C34"/>
                </a:solidFill>
                <a:latin typeface="Arial"/>
                <a:ea typeface="Arial"/>
                <a:cs typeface="Arial"/>
              </a:defRPr>
            </a:pPr>
            <a:r>
              <a:rPr sz="3225" b="1">
                <a:solidFill>
                  <a:srgbClr val="261C34"/>
                </a:solidFill>
                <a:latin typeface="Arial"/>
                <a:ea typeface="Arial"/>
                <a:cs typeface="Arial"/>
              </a:rPr>
              <a:t>What is in the library?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49D615C-9E59-46CD-A826-C491D84A6D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019425"/>
            <a:ext cx="1333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A522"/>
          </a:solidFill>
          <a:ln xmlns:a="http://schemas.openxmlformats.org/drawingml/2006/main" w="0">
            <a:noFill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A3633E5-9364-4FAA-B570-7D1C7DE78B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933700"/>
            <a:ext cx="6334125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175" b="0">
                <a:solidFill>
                  <a:srgbClr val="261C34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261C34"/>
                </a:solidFill>
                <a:latin typeface="Arial"/>
                <a:ea typeface="Arial"/>
                <a:cs typeface="Arial"/>
              </a:rPr>
              <a:t>Films, Bible texts, spoken audio, and old scans.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530987C-20FF-49AF-A548-7A96C81A13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086225"/>
            <a:ext cx="1333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A522"/>
          </a:solidFill>
          <a:ln xmlns:a="http://schemas.openxmlformats.org/drawingml/2006/main" w="0">
            <a:noFill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01E69C7-7FBA-43B0-B320-DFDFE32749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4000500"/>
            <a:ext cx="6334125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175" b="0">
                <a:solidFill>
                  <a:srgbClr val="261C34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261C34"/>
                </a:solidFill>
                <a:latin typeface="Arial"/>
                <a:ea typeface="Arial"/>
                <a:cs typeface="Arial"/>
              </a:rPr>
              <a:t>Choose English, Urdu, Sindhi, or Pashto.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853BB4F-139B-402B-B498-499C1A54AC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5153025"/>
            <a:ext cx="1333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A522"/>
          </a:solidFill>
          <a:ln xmlns:a="http://schemas.openxmlformats.org/drawingml/2006/main" w="0">
            <a:noFill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8A66A6F-D001-4183-B996-F73C3AF29D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5067300"/>
            <a:ext cx="6334125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175" b="0">
                <a:solidFill>
                  <a:srgbClr val="261C34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261C34"/>
                </a:solidFill>
                <a:latin typeface="Arial"/>
                <a:ea typeface="Arial"/>
                <a:cs typeface="Arial"/>
              </a:rPr>
              <a:t>Tap a title to watch, listen, or read.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883A6F6-90E3-48A0-997C-9CDC8FCF00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5943600"/>
            <a:ext cx="6791325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534C5B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534C5B"/>
                </a:solidFill>
                <a:latin typeface="Arial"/>
                <a:ea typeface="Arial"/>
                <a:cs typeface="Arial"/>
              </a:rPr>
              <a:t>On the website, media streams over the internet. A prepared card can hold selected files for offline use.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D1268A6-7A56-4588-B87A-7B8476CE0B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100" y="161925"/>
            <a:ext cx="3600450" cy="7296150"/>
          </a:xfrm>
          <a:prstGeom xmlns:a="http://schemas.openxmlformats.org/drawingml/2006/main" prst="roundRect">
            <a:avLst>
              <a:gd name="adj" fmla="val 211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D9D1C5"/>
            </a:solidFill>
          </a:ln>
        </p:spPr>
      </p:sp>
      <p:pic>
        <p:nvPicPr>
          <p:cNvPr id="3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85eceec11a545fe"/>
          <a:stretch xmlns:a="http://schemas.openxmlformats.org/drawingml/2006/main"/>
        </p:blipFill>
        <p:spPr>
          <a:xfrm xmlns:a="http://schemas.openxmlformats.org/drawingml/2006/main">
            <a:off x="8123661" y="219075"/>
            <a:ext cx="3431328" cy="718185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39518643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DF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27F7A22-6733-48B7-84F3-FC390DAA55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04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72471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F598D0C-3B09-4491-A0C0-5FE32C703E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76225"/>
            <a:ext cx="4953000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572471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572471"/>
                </a:solidFill>
                <a:latin typeface="Arial"/>
                <a:ea typeface="Arial"/>
                <a:cs typeface="Arial"/>
              </a:rPr>
              <a:t>BibleTransfer123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DF40277-355A-47F8-B1F4-CC92A19986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790575"/>
            <a:ext cx="2381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D92C32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D92C32"/>
                </a:solidFill>
                <a:latin typeface="Arial"/>
                <a:ea typeface="Arial"/>
                <a:cs typeface="Arial"/>
              </a:rPr>
              <a:t>EXPLORE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D60BF67-9ED1-4913-BEE4-E9B76458F9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400050"/>
            <a:ext cx="5524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572471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572471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5021C42-DC5E-4E78-ACD3-71FDB4D8DF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7010400"/>
            <a:ext cx="69532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DED0"/>
          </a:solidFill>
          <a:ln xmlns:a="http://schemas.openxmlformats.org/drawingml/2006/main" w="0">
            <a:noFill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AE1D633-2FCD-4EEE-BFF8-F49352EE4A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7153275"/>
            <a:ext cx="52387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534C5B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34C5B"/>
                </a:solidFill>
                <a:latin typeface="Arial"/>
                <a:ea typeface="Arial"/>
                <a:cs typeface="Arial"/>
              </a:rPr>
              <a:t>Larry’s step-by-step guide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4C74E11-D0B5-4E23-98CF-ED8481E41A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409700"/>
            <a:ext cx="6858000" cy="1181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225" b="1">
                <a:solidFill>
                  <a:srgbClr val="261C34"/>
                </a:solidFill>
                <a:latin typeface="Arial"/>
                <a:ea typeface="Arial"/>
                <a:cs typeface="Arial"/>
              </a:defRPr>
            </a:pPr>
            <a:r>
              <a:rPr sz="3225" b="1">
                <a:solidFill>
                  <a:srgbClr val="261C34"/>
                </a:solidFill>
                <a:latin typeface="Arial"/>
                <a:ea typeface="Arial"/>
                <a:cs typeface="Arial"/>
              </a:rPr>
              <a:t>Choose your language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847D4C3-0D4D-46CC-A170-23D94E9C02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019425"/>
            <a:ext cx="1333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A522"/>
          </a:solidFill>
          <a:ln xmlns:a="http://schemas.openxmlformats.org/drawingml/2006/main" w="0">
            <a:noFill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C84D621-7B12-41E8-95A3-048A55CAD5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933700"/>
            <a:ext cx="6334125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175" b="0">
                <a:solidFill>
                  <a:srgbClr val="261C34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261C34"/>
                </a:solidFill>
                <a:latin typeface="Arial"/>
                <a:ea typeface="Arial"/>
                <a:cs typeface="Arial"/>
              </a:rPr>
              <a:t>On the first screen, tap the language you want.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9A7F66C-F55C-47D4-A6CF-B764127A3F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086225"/>
            <a:ext cx="1333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A522"/>
          </a:solidFill>
          <a:ln xmlns:a="http://schemas.openxmlformats.org/drawingml/2006/main" w="0">
            <a:noFill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09E5FB5-4B55-4706-8C28-CA2DD16445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4000500"/>
            <a:ext cx="6334125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175" b="0">
                <a:solidFill>
                  <a:srgbClr val="261C34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261C34"/>
                </a:solidFill>
                <a:latin typeface="Arial"/>
                <a:ea typeface="Arial"/>
                <a:cs typeface="Arial"/>
              </a:rPr>
              <a:t>You can change it later at the top of the page.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50AFF9A-DD2D-4C3E-94CF-4423E0B8E6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5943600"/>
            <a:ext cx="6791325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534C5B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534C5B"/>
                </a:solidFill>
                <a:latin typeface="Arial"/>
                <a:ea typeface="Arial"/>
                <a:cs typeface="Arial"/>
              </a:rPr>
              <a:t>The choice also changes which language of media appears first.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51BB86F-1C07-4B61-B4CC-A676177F8A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100" y="161925"/>
            <a:ext cx="3600450" cy="7296150"/>
          </a:xfrm>
          <a:prstGeom xmlns:a="http://schemas.openxmlformats.org/drawingml/2006/main" prst="roundRect">
            <a:avLst>
              <a:gd name="adj" fmla="val 211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D9D1C5"/>
            </a:solidFill>
          </a:ln>
        </p:spPr>
      </p:sp>
      <p:pic>
        <p:nvPicPr>
          <p:cNvPr id="2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250b4be65dd49e4"/>
          <a:stretch xmlns:a="http://schemas.openxmlformats.org/drawingml/2006/main"/>
        </p:blipFill>
        <p:spPr>
          <a:xfrm xmlns:a="http://schemas.openxmlformats.org/drawingml/2006/main">
            <a:off x="8123661" y="219075"/>
            <a:ext cx="3431328" cy="718185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02476409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DF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150970A-398B-4D56-AAE6-2EFC905B8B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04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72471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B910D4E-25D7-46FD-B9BC-CCB0664008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76225"/>
            <a:ext cx="4953000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572471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572471"/>
                </a:solidFill>
                <a:latin typeface="Arial"/>
                <a:ea typeface="Arial"/>
                <a:cs typeface="Arial"/>
              </a:rPr>
              <a:t>BibleTransfer123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59928E2-6D45-42A5-81F7-E6FCC156AA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790575"/>
            <a:ext cx="2381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D92C32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D92C32"/>
                </a:solidFill>
                <a:latin typeface="Arial"/>
                <a:ea typeface="Arial"/>
                <a:cs typeface="Arial"/>
              </a:rPr>
              <a:t>EXPLORE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DAB3C66-48CB-4C81-8E98-D3FF079D79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400050"/>
            <a:ext cx="5524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572471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572471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62EEF8C-4BB7-4A25-8C04-AC0E320CD2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7010400"/>
            <a:ext cx="69532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DED0"/>
          </a:solidFill>
          <a:ln xmlns:a="http://schemas.openxmlformats.org/drawingml/2006/main" w="0">
            <a:noFill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6EAAD80-7460-4B39-A858-D8DDC24E78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7153275"/>
            <a:ext cx="52387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534C5B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34C5B"/>
                </a:solidFill>
                <a:latin typeface="Arial"/>
                <a:ea typeface="Arial"/>
                <a:cs typeface="Arial"/>
              </a:rPr>
              <a:t>Larry’s step-by-step guide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F8BEF5B-7FCD-41C4-B0AA-8AED7EF9DB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409700"/>
            <a:ext cx="6858000" cy="1181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225" b="1">
                <a:solidFill>
                  <a:srgbClr val="261C34"/>
                </a:solidFill>
                <a:latin typeface="Arial"/>
                <a:ea typeface="Arial"/>
                <a:cs typeface="Arial"/>
              </a:defRPr>
            </a:pPr>
            <a:r>
              <a:rPr sz="3225" b="1">
                <a:solidFill>
                  <a:srgbClr val="261C34"/>
                </a:solidFill>
                <a:latin typeface="Arial"/>
                <a:ea typeface="Arial"/>
                <a:cs typeface="Arial"/>
              </a:rPr>
              <a:t>Open the Library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6736799-D316-448D-8836-0B60FB5D77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019425"/>
            <a:ext cx="1333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A522"/>
          </a:solidFill>
          <a:ln xmlns:a="http://schemas.openxmlformats.org/drawingml/2006/main" w="0">
            <a:noFill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EF449A4-AFC0-4C8B-96D2-C6FBD333BD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933700"/>
            <a:ext cx="6334125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175" b="0">
                <a:solidFill>
                  <a:srgbClr val="261C34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261C34"/>
                </a:solidFill>
                <a:latin typeface="Arial"/>
                <a:ea typeface="Arial"/>
                <a:cs typeface="Arial"/>
              </a:rPr>
              <a:t>Tap Library at the bottom of the screen.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EA9D9B0-C2DD-4FA2-8F17-03337CA944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086225"/>
            <a:ext cx="1333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A522"/>
          </a:solidFill>
          <a:ln xmlns:a="http://schemas.openxmlformats.org/drawingml/2006/main" w="0">
            <a:noFill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338D989-C47C-4C63-ACA5-2D47D4FF97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4000500"/>
            <a:ext cx="6334125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175" b="0">
                <a:solidFill>
                  <a:srgbClr val="261C34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261C34"/>
                </a:solidFill>
                <a:latin typeface="Arial"/>
                <a:ea typeface="Arial"/>
                <a:cs typeface="Arial"/>
              </a:rPr>
              <a:t>The Library shows everything in your chosen language.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ED25F20-ED9C-434C-9BDC-0F3B1A21CC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5943600"/>
            <a:ext cx="6791325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534C5B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534C5B"/>
                </a:solidFill>
                <a:latin typeface="Arial"/>
                <a:ea typeface="Arial"/>
                <a:cs typeface="Arial"/>
              </a:rPr>
              <a:t>Use the category buttons if you want only films, audio, or Bible text.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862E3D1-FBA8-4784-BDB2-3C3006379D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100" y="161925"/>
            <a:ext cx="3600450" cy="7296150"/>
          </a:xfrm>
          <a:prstGeom xmlns:a="http://schemas.openxmlformats.org/drawingml/2006/main" prst="roundRect">
            <a:avLst>
              <a:gd name="adj" fmla="val 211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D9D1C5"/>
            </a:solidFill>
          </a:ln>
        </p:spPr>
      </p:sp>
      <p:pic>
        <p:nvPicPr>
          <p:cNvPr id="2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2e12ef778134a4f"/>
          <a:stretch xmlns:a="http://schemas.openxmlformats.org/drawingml/2006/main"/>
        </p:blipFill>
        <p:spPr>
          <a:xfrm xmlns:a="http://schemas.openxmlformats.org/drawingml/2006/main">
            <a:off x="8123661" y="219075"/>
            <a:ext cx="3431328" cy="718185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07823900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DF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38CC1A6-7A93-42E3-B063-63E3B9C4E5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04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72471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F091617-ABBB-49D2-BF28-DD7D424CDA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76225"/>
            <a:ext cx="4953000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572471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572471"/>
                </a:solidFill>
                <a:latin typeface="Arial"/>
                <a:ea typeface="Arial"/>
                <a:cs typeface="Arial"/>
              </a:rPr>
              <a:t>BibleTransfer123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73575C0-156A-499B-92D5-6BEA778D84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790575"/>
            <a:ext cx="2381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D92C32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D92C32"/>
                </a:solidFill>
                <a:latin typeface="Arial"/>
                <a:ea typeface="Arial"/>
                <a:cs typeface="Arial"/>
              </a:rPr>
              <a:t>EXPLORE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59F03DC-387B-42DF-A9E7-32B972E17E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400050"/>
            <a:ext cx="5524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572471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572471"/>
                </a:solidFill>
                <a:latin typeface="Arial"/>
                <a:ea typeface="Arial"/>
                <a:cs typeface="Arial"/>
              </a:rPr>
              <a:t>05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4F1FC74-5980-4E5F-AF96-C213FA6D39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7010400"/>
            <a:ext cx="69532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DED0"/>
          </a:solidFill>
          <a:ln xmlns:a="http://schemas.openxmlformats.org/drawingml/2006/main" w="0">
            <a:noFill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BF61C6D-0F97-46B6-9F70-EEE42E6EA4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7153275"/>
            <a:ext cx="52387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534C5B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34C5B"/>
                </a:solidFill>
                <a:latin typeface="Arial"/>
                <a:ea typeface="Arial"/>
                <a:cs typeface="Arial"/>
              </a:rPr>
              <a:t>Larry’s step-by-step guide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0B6D487-C8E4-43B9-979C-5F79038484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409700"/>
            <a:ext cx="6858000" cy="1181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225" b="1">
                <a:solidFill>
                  <a:srgbClr val="261C34"/>
                </a:solidFill>
                <a:latin typeface="Arial"/>
                <a:ea typeface="Arial"/>
                <a:cs typeface="Arial"/>
              </a:defRPr>
            </a:pPr>
            <a:r>
              <a:rPr sz="3225" b="1">
                <a:solidFill>
                  <a:srgbClr val="261C34"/>
                </a:solidFill>
                <a:latin typeface="Arial"/>
                <a:ea typeface="Arial"/>
                <a:cs typeface="Arial"/>
              </a:rPr>
              <a:t>Find something to open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8AE8A40-85DB-4B94-AB08-33D94954B5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019425"/>
            <a:ext cx="1333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A522"/>
          </a:solidFill>
          <a:ln xmlns:a="http://schemas.openxmlformats.org/drawingml/2006/main" w="0">
            <a:noFill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797D392-296A-4428-8D12-D88D04C0EC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933700"/>
            <a:ext cx="6334125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175" b="0">
                <a:solidFill>
                  <a:srgbClr val="261C34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261C34"/>
                </a:solidFill>
                <a:latin typeface="Arial"/>
                <a:ea typeface="Arial"/>
                <a:cs typeface="Arial"/>
              </a:rPr>
              <a:t>Type a name in the search box.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D908945-AEA2-4002-8742-63A48940AD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086225"/>
            <a:ext cx="1333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A522"/>
          </a:solidFill>
          <a:ln xmlns:a="http://schemas.openxmlformats.org/drawingml/2006/main" w="0">
            <a:noFill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D010B72-708A-448D-8D3A-10F616536C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4000500"/>
            <a:ext cx="6334125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175" b="0">
                <a:solidFill>
                  <a:srgbClr val="261C34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261C34"/>
                </a:solidFill>
                <a:latin typeface="Arial"/>
                <a:ea typeface="Arial"/>
                <a:cs typeface="Arial"/>
              </a:rPr>
              <a:t>Tap the matching result.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610D035-71BD-44C9-AFD2-6B56548F16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5943600"/>
            <a:ext cx="6791325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534C5B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534C5B"/>
                </a:solidFill>
                <a:latin typeface="Arial"/>
                <a:ea typeface="Arial"/>
                <a:cs typeface="Arial"/>
              </a:rPr>
              <a:t>This example uses the short film “iBible: Salvation Story.”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05DD352-22BD-4AC5-8F67-802B1B755A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100" y="161925"/>
            <a:ext cx="3600450" cy="7296150"/>
          </a:xfrm>
          <a:prstGeom xmlns:a="http://schemas.openxmlformats.org/drawingml/2006/main" prst="roundRect">
            <a:avLst>
              <a:gd name="adj" fmla="val 211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D9D1C5"/>
            </a:solidFill>
          </a:ln>
        </p:spPr>
      </p:sp>
      <p:pic>
        <p:nvPicPr>
          <p:cNvPr id="2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352edb4e805467a"/>
          <a:stretch xmlns:a="http://schemas.openxmlformats.org/drawingml/2006/main"/>
        </p:blipFill>
        <p:spPr>
          <a:xfrm xmlns:a="http://schemas.openxmlformats.org/drawingml/2006/main">
            <a:off x="8123661" y="219075"/>
            <a:ext cx="3431328" cy="718185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8199655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DF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260A17F-5727-41F5-BCC7-6BD870CA42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04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72471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C13907C-235A-4A89-9A08-38D3AF396A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76225"/>
            <a:ext cx="4953000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572471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572471"/>
                </a:solidFill>
                <a:latin typeface="Arial"/>
                <a:ea typeface="Arial"/>
                <a:cs typeface="Arial"/>
              </a:rPr>
              <a:t>BibleTransfer123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D17921C-D37F-4FC3-8CC2-5038B20E54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790575"/>
            <a:ext cx="2381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D92C32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D92C32"/>
                </a:solidFill>
                <a:latin typeface="Arial"/>
                <a:ea typeface="Arial"/>
                <a:cs typeface="Arial"/>
              </a:rPr>
              <a:t>SAVE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C350A65-91AC-4A76-BA8C-FFB3F209D0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400050"/>
            <a:ext cx="5524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572471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572471"/>
                </a:solidFill>
                <a:latin typeface="Arial"/>
                <a:ea typeface="Arial"/>
                <a:cs typeface="Arial"/>
              </a:rPr>
              <a:t>06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4A93FE5-3D8B-4BE1-A13F-B9F0574E81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7010400"/>
            <a:ext cx="69532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DED0"/>
          </a:solidFill>
          <a:ln xmlns:a="http://schemas.openxmlformats.org/drawingml/2006/main" w="0">
            <a:noFill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1ADABF9-68A4-4F29-AD41-B48FDBEDB3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7153275"/>
            <a:ext cx="52387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534C5B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34C5B"/>
                </a:solidFill>
                <a:latin typeface="Arial"/>
                <a:ea typeface="Arial"/>
                <a:cs typeface="Arial"/>
              </a:rPr>
              <a:t>Larry’s step-by-step guide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7468E87-F5F3-4E26-92C3-3C28D5A8A8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409700"/>
            <a:ext cx="6858000" cy="1181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225" b="1">
                <a:solidFill>
                  <a:srgbClr val="261C34"/>
                </a:solidFill>
                <a:latin typeface="Arial"/>
                <a:ea typeface="Arial"/>
                <a:cs typeface="Arial"/>
              </a:defRPr>
            </a:pPr>
            <a:r>
              <a:rPr sz="3225" b="1">
                <a:solidFill>
                  <a:srgbClr val="261C34"/>
                </a:solidFill>
                <a:latin typeface="Arial"/>
                <a:ea typeface="Arial"/>
                <a:cs typeface="Arial"/>
              </a:rPr>
              <a:t>Keep a film on your phone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C8DD62F-1D37-43BA-BCCC-4739A2A083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019425"/>
            <a:ext cx="1333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A522"/>
          </a:solidFill>
          <a:ln xmlns:a="http://schemas.openxmlformats.org/drawingml/2006/main" w="0">
            <a:noFill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4B53857-7F4F-4746-AF10-3944F76384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933700"/>
            <a:ext cx="6334125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175" b="0">
                <a:solidFill>
                  <a:srgbClr val="261C34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261C34"/>
                </a:solidFill>
                <a:latin typeface="Arial"/>
                <a:ea typeface="Arial"/>
                <a:cs typeface="Arial"/>
              </a:rPr>
              <a:t>Open the film and tap Save to my phone.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5342956-BD28-4AC5-91C5-5CCED81831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086225"/>
            <a:ext cx="1333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A522"/>
          </a:solidFill>
          <a:ln xmlns:a="http://schemas.openxmlformats.org/drawingml/2006/main" w="0">
            <a:noFill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ADBFF82-E1B9-461F-BAC2-C39AE53BFC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4000500"/>
            <a:ext cx="6334125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175" b="0">
                <a:solidFill>
                  <a:srgbClr val="261C34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261C34"/>
                </a:solidFill>
                <a:latin typeface="Arial"/>
                <a:ea typeface="Arial"/>
                <a:cs typeface="Arial"/>
              </a:rPr>
              <a:t>You can also watch it on this page.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E5E22F9-DAF8-4D05-AFA7-6427758B30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5943600"/>
            <a:ext cx="6791325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534C5B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534C5B"/>
                </a:solidFill>
                <a:latin typeface="Arial"/>
                <a:ea typeface="Arial"/>
                <a:cs typeface="Arial"/>
              </a:rPr>
              <a:t>The website needs an internet connection to stream or save media.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D4C86A0-4C3B-4992-81A1-68C17333CA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100" y="161925"/>
            <a:ext cx="3600450" cy="7296150"/>
          </a:xfrm>
          <a:prstGeom xmlns:a="http://schemas.openxmlformats.org/drawingml/2006/main" prst="roundRect">
            <a:avLst>
              <a:gd name="adj" fmla="val 211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D9D1C5"/>
            </a:solidFill>
          </a:ln>
        </p:spPr>
      </p:sp>
      <p:pic>
        <p:nvPicPr>
          <p:cNvPr id="2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c2d7cbb689e4178"/>
          <a:stretch xmlns:a="http://schemas.openxmlformats.org/drawingml/2006/main"/>
        </p:blipFill>
        <p:spPr>
          <a:xfrm xmlns:a="http://schemas.openxmlformats.org/drawingml/2006/main">
            <a:off x="8123661" y="219075"/>
            <a:ext cx="3431328" cy="718185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02313444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DF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CC107DA-6B49-4043-A63E-09B93D4832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04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72471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048D14A-1CCD-4762-9E57-C5DF573D39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76225"/>
            <a:ext cx="4953000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572471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572471"/>
                </a:solidFill>
                <a:latin typeface="Arial"/>
                <a:ea typeface="Arial"/>
                <a:cs typeface="Arial"/>
              </a:rPr>
              <a:t>BibleTransfer123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A307AAD-3F82-4B2B-B162-94B61751CD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790575"/>
            <a:ext cx="2381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D92C32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D92C32"/>
                </a:solidFill>
                <a:latin typeface="Arial"/>
                <a:ea typeface="Arial"/>
                <a:cs typeface="Arial"/>
              </a:rPr>
              <a:t>SAVE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B8258BA-4987-465D-AC0C-5A8DEF716D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400050"/>
            <a:ext cx="5524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572471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572471"/>
                </a:solidFill>
                <a:latin typeface="Arial"/>
                <a:ea typeface="Arial"/>
                <a:cs typeface="Arial"/>
              </a:rPr>
              <a:t>07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D7DBA25-6824-4534-B1B0-A1521F4BD0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7010400"/>
            <a:ext cx="69532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DED0"/>
          </a:solidFill>
          <a:ln xmlns:a="http://schemas.openxmlformats.org/drawingml/2006/main" w="0">
            <a:noFill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1C5BB15-4E9A-4060-A09E-77DB8D0827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7153275"/>
            <a:ext cx="52387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534C5B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34C5B"/>
                </a:solidFill>
                <a:latin typeface="Arial"/>
                <a:ea typeface="Arial"/>
                <a:cs typeface="Arial"/>
              </a:rPr>
              <a:t>Larry’s step-by-step guide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B44206E-5B21-4FD2-B651-C90F1FE03E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409700"/>
            <a:ext cx="6858000" cy="1181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225" b="1">
                <a:solidFill>
                  <a:srgbClr val="261C34"/>
                </a:solidFill>
                <a:latin typeface="Arial"/>
                <a:ea typeface="Arial"/>
                <a:cs typeface="Arial"/>
              </a:defRPr>
            </a:pPr>
            <a:r>
              <a:rPr sz="3225" b="1">
                <a:solidFill>
                  <a:srgbClr val="261C34"/>
                </a:solidFill>
                <a:latin typeface="Arial"/>
                <a:ea typeface="Arial"/>
                <a:cs typeface="Arial"/>
              </a:rPr>
              <a:t>Choose the smaller video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918792C-B59E-43A7-A0B7-EA2275B6F1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019425"/>
            <a:ext cx="1333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A522"/>
          </a:solidFill>
          <a:ln xmlns:a="http://schemas.openxmlformats.org/drawingml/2006/main" w="0">
            <a:noFill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71BCA9D-75A5-45B0-BA92-964E33DF03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933700"/>
            <a:ext cx="6334125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175" b="0">
                <a:solidFill>
                  <a:srgbClr val="261C34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261C34"/>
                </a:solidFill>
                <a:latin typeface="Arial"/>
                <a:ea typeface="Arial"/>
                <a:cs typeface="Arial"/>
              </a:rPr>
              <a:t>Tap Video — SD.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1C3622B-666A-4BF2-9C30-8CDB28FE3E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086225"/>
            <a:ext cx="1333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A522"/>
          </a:solidFill>
          <a:ln xmlns:a="http://schemas.openxmlformats.org/drawingml/2006/main" w="0">
            <a:noFill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EB8268C-FDEC-481A-B4AE-E305288D3B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4000500"/>
            <a:ext cx="6334125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175" b="0">
                <a:solidFill>
                  <a:srgbClr val="261C34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261C34"/>
                </a:solidFill>
                <a:latin typeface="Arial"/>
                <a:ea typeface="Arial"/>
                <a:cs typeface="Arial"/>
              </a:rPr>
              <a:t>The smaller file is easier to save and share.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7E3A08E-4D7C-4364-84F6-416A142B56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5943600"/>
            <a:ext cx="6791325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534C5B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534C5B"/>
                </a:solidFill>
                <a:latin typeface="Arial"/>
                <a:ea typeface="Arial"/>
                <a:cs typeface="Arial"/>
              </a:rPr>
              <a:t>In this example, SD is about 101 MB.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3C34292-F929-458D-B832-4A8987A9BD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100" y="161925"/>
            <a:ext cx="3600450" cy="7296150"/>
          </a:xfrm>
          <a:prstGeom xmlns:a="http://schemas.openxmlformats.org/drawingml/2006/main" prst="roundRect">
            <a:avLst>
              <a:gd name="adj" fmla="val 211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D9D1C5"/>
            </a:solidFill>
          </a:ln>
        </p:spPr>
      </p:sp>
      <p:pic>
        <p:nvPicPr>
          <p:cNvPr id="2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0000c2521be42c6"/>
          <a:stretch xmlns:a="http://schemas.openxmlformats.org/drawingml/2006/main"/>
        </p:blipFill>
        <p:spPr>
          <a:xfrm xmlns:a="http://schemas.openxmlformats.org/drawingml/2006/main">
            <a:off x="8123661" y="219075"/>
            <a:ext cx="3431328" cy="718185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81137381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DF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9CF6111-E72D-4C5E-8B51-B4BB16E598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04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72471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1BFFF18-0685-4D41-BA60-F7CA9B9225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76225"/>
            <a:ext cx="4953000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572471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572471"/>
                </a:solidFill>
                <a:latin typeface="Arial"/>
                <a:ea typeface="Arial"/>
                <a:cs typeface="Arial"/>
              </a:rPr>
              <a:t>BibleTransfer123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678A0A0-91FF-42B5-BEEF-9621EE81FF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790575"/>
            <a:ext cx="2381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D92C32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D92C32"/>
                </a:solidFill>
                <a:latin typeface="Arial"/>
                <a:ea typeface="Arial"/>
                <a:cs typeface="Arial"/>
              </a:rPr>
              <a:t>SAVE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3F8B5AB-B95E-4895-8098-128E20A227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400050"/>
            <a:ext cx="5524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572471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572471"/>
                </a:solidFill>
                <a:latin typeface="Arial"/>
                <a:ea typeface="Arial"/>
                <a:cs typeface="Arial"/>
              </a:rPr>
              <a:t>08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EE4E4AA-6E41-446F-B81E-ED80012D7B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7010400"/>
            <a:ext cx="69532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DED0"/>
          </a:solidFill>
          <a:ln xmlns:a="http://schemas.openxmlformats.org/drawingml/2006/main" w="0">
            <a:noFill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62924E6-6879-471C-93FF-6F348936A8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7153275"/>
            <a:ext cx="52387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534C5B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34C5B"/>
                </a:solidFill>
                <a:latin typeface="Arial"/>
                <a:ea typeface="Arial"/>
                <a:cs typeface="Arial"/>
              </a:rPr>
              <a:t>Larry’s step-by-step guide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4AEB289-85CC-4B2F-85BC-EACDB79547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409700"/>
            <a:ext cx="6858000" cy="1181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225" b="1">
                <a:solidFill>
                  <a:srgbClr val="261C34"/>
                </a:solidFill>
                <a:latin typeface="Arial"/>
                <a:ea typeface="Arial"/>
                <a:cs typeface="Arial"/>
              </a:defRPr>
            </a:pPr>
            <a:r>
              <a:rPr sz="3225" b="1">
                <a:solidFill>
                  <a:srgbClr val="261C34"/>
                </a:solidFill>
                <a:latin typeface="Arial"/>
                <a:ea typeface="Arial"/>
                <a:cs typeface="Arial"/>
              </a:rPr>
              <a:t>Save it to Downloads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C10F1BA-93EC-4EFD-8757-DB2B2E5001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019425"/>
            <a:ext cx="1333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A522"/>
          </a:solidFill>
          <a:ln xmlns:a="http://schemas.openxmlformats.org/drawingml/2006/main" w="0">
            <a:noFill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14CA71F-CD05-409D-AE35-E579396DC9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933700"/>
            <a:ext cx="6334125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175" b="0">
                <a:solidFill>
                  <a:srgbClr val="261C34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261C34"/>
                </a:solidFill>
                <a:latin typeface="Arial"/>
                <a:ea typeface="Arial"/>
                <a:cs typeface="Arial"/>
              </a:rPr>
              <a:t>Tap Save to Downloads.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047A39E-C3BB-4716-AF03-F9C07007D6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086225"/>
            <a:ext cx="1333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A522"/>
          </a:solidFill>
          <a:ln xmlns:a="http://schemas.openxmlformats.org/drawingml/2006/main" w="0">
            <a:noFill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5607F75-3E7A-412E-BE5F-A1EEFDB7A9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4000500"/>
            <a:ext cx="6334125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175" b="0">
                <a:solidFill>
                  <a:srgbClr val="261C34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261C34"/>
                </a:solidFill>
                <a:latin typeface="Arial"/>
                <a:ea typeface="Arial"/>
                <a:cs typeface="Arial"/>
              </a:rPr>
              <a:t>Wait for the saving step to finish.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48B6807-AECF-4431-ACF6-4B2541AEDF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5943600"/>
            <a:ext cx="6791325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534C5B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534C5B"/>
                </a:solidFill>
                <a:latin typeface="Arial"/>
                <a:ea typeface="Arial"/>
                <a:cs typeface="Arial"/>
              </a:rPr>
              <a:t>If your phone asks where to put the file, choose Downloads.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E610711-0943-4C96-98B1-B1F4C90125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100" y="161925"/>
            <a:ext cx="3600450" cy="7296150"/>
          </a:xfrm>
          <a:prstGeom xmlns:a="http://schemas.openxmlformats.org/drawingml/2006/main" prst="roundRect">
            <a:avLst>
              <a:gd name="adj" fmla="val 211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D9D1C5"/>
            </a:solidFill>
          </a:ln>
        </p:spPr>
      </p:sp>
      <p:pic>
        <p:nvPicPr>
          <p:cNvPr id="2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d0757bc304642f6"/>
          <a:stretch xmlns:a="http://schemas.openxmlformats.org/drawingml/2006/main"/>
        </p:blipFill>
        <p:spPr>
          <a:xfrm xmlns:a="http://schemas.openxmlformats.org/drawingml/2006/main">
            <a:off x="8123661" y="219075"/>
            <a:ext cx="3431328" cy="718185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92321468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DF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6C7FFD2-C9AE-4D08-B7BE-587DB279D0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04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72471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AAEDE0C-82D2-48AB-A0E5-902E4A4ADF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76225"/>
            <a:ext cx="4953000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572471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572471"/>
                </a:solidFill>
                <a:latin typeface="Arial"/>
                <a:ea typeface="Arial"/>
                <a:cs typeface="Arial"/>
              </a:rPr>
              <a:t>BibleTransfer123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60BE99C-FA2B-4B9D-A74F-BD31F2A912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790575"/>
            <a:ext cx="2381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D92C32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D92C32"/>
                </a:solidFill>
                <a:latin typeface="Arial"/>
                <a:ea typeface="Arial"/>
                <a:cs typeface="Arial"/>
              </a:rPr>
              <a:t>SAVE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CC36626-EAE4-407A-B515-1D1EB3DFBB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400050"/>
            <a:ext cx="5524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572471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572471"/>
                </a:solidFill>
                <a:latin typeface="Arial"/>
                <a:ea typeface="Arial"/>
                <a:cs typeface="Arial"/>
              </a:rPr>
              <a:t>09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13E8B47-DA69-4F1C-8CA5-A78F218464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7010400"/>
            <a:ext cx="69532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DED0"/>
          </a:solidFill>
          <a:ln xmlns:a="http://schemas.openxmlformats.org/drawingml/2006/main" w="0">
            <a:noFill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EB3B488-E71C-4BE3-AF29-C52E05802A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7153275"/>
            <a:ext cx="52387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534C5B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34C5B"/>
                </a:solidFill>
                <a:latin typeface="Arial"/>
                <a:ea typeface="Arial"/>
                <a:cs typeface="Arial"/>
              </a:rPr>
              <a:t>Larry’s step-by-step guide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5CFF7D4-3F78-460B-9925-6F0C27B08C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409700"/>
            <a:ext cx="6858000" cy="1181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225" b="1">
                <a:solidFill>
                  <a:srgbClr val="261C34"/>
                </a:solidFill>
                <a:latin typeface="Arial"/>
                <a:ea typeface="Arial"/>
                <a:cs typeface="Arial"/>
              </a:defRPr>
            </a:pPr>
            <a:r>
              <a:rPr sz="3225" b="1">
                <a:solidFill>
                  <a:srgbClr val="261C34"/>
                </a:solidFill>
                <a:latin typeface="Arial"/>
                <a:ea typeface="Arial"/>
                <a:cs typeface="Arial"/>
              </a:rPr>
              <a:t>Find the saved file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5D739BF-108A-4D94-9C6D-496DEA60D4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019425"/>
            <a:ext cx="1333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A522"/>
          </a:solidFill>
          <a:ln xmlns:a="http://schemas.openxmlformats.org/drawingml/2006/main" w="0">
            <a:noFill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367C146-DDDD-4903-8227-7AB8F745AA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933700"/>
            <a:ext cx="6334125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175" b="0">
                <a:solidFill>
                  <a:srgbClr val="261C34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261C34"/>
                </a:solidFill>
                <a:latin typeface="Arial"/>
                <a:ea typeface="Arial"/>
                <a:cs typeface="Arial"/>
              </a:rPr>
              <a:t>Open your phone’s Files app.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A088219-4F8E-4A21-A0E5-69306DBDD0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086225"/>
            <a:ext cx="1333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A522"/>
          </a:solidFill>
          <a:ln xmlns:a="http://schemas.openxmlformats.org/drawingml/2006/main" w="0">
            <a:noFill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431EFEC-5921-4167-9F02-E00CD81D6E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4000500"/>
            <a:ext cx="6334125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175" b="0">
                <a:solidFill>
                  <a:srgbClr val="261C34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261C34"/>
                </a:solidFill>
                <a:latin typeface="Arial"/>
                <a:ea typeface="Arial"/>
                <a:cs typeface="Arial"/>
              </a:rPr>
              <a:t>Look in Downloads, then tap the file.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916E6F2-51DC-4CA5-9720-83AE0CA64F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5943600"/>
            <a:ext cx="6791325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534C5B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534C5B"/>
                </a:solidFill>
                <a:latin typeface="Arial"/>
                <a:ea typeface="Arial"/>
                <a:cs typeface="Arial"/>
              </a:rPr>
              <a:t>On an iPhone, use Files. On Android, it may be called Files or My Files.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1256262-7DA4-402E-93F6-950CB84B79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100" y="161925"/>
            <a:ext cx="3600450" cy="7296150"/>
          </a:xfrm>
          <a:prstGeom xmlns:a="http://schemas.openxmlformats.org/drawingml/2006/main" prst="roundRect">
            <a:avLst>
              <a:gd name="adj" fmla="val 211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D9D1C5"/>
            </a:solidFill>
          </a:ln>
        </p:spPr>
      </p:sp>
      <p:pic>
        <p:nvPicPr>
          <p:cNvPr id="2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95a8b7618df4b97"/>
          <a:stretch xmlns:a="http://schemas.openxmlformats.org/drawingml/2006/main"/>
        </p:blipFill>
        <p:spPr>
          <a:xfrm xmlns:a="http://schemas.openxmlformats.org/drawingml/2006/main">
            <a:off x="8123661" y="219075"/>
            <a:ext cx="3431328" cy="718185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85859007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FFDF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3A63357-26E4-469C-A4F3-2FBEE906A8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04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72471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66CA1CA-9D8B-4773-8F34-EF24C1E7CC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76225"/>
            <a:ext cx="4953000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572471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572471"/>
                </a:solidFill>
                <a:latin typeface="Arial"/>
                <a:ea typeface="Arial"/>
                <a:cs typeface="Arial"/>
              </a:rPr>
              <a:t>BibleTransfer123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D3A652A-488A-489A-BFB0-A69154C94D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790575"/>
            <a:ext cx="2381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D92C32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D92C32"/>
                </a:solidFill>
                <a:latin typeface="Arial"/>
                <a:ea typeface="Arial"/>
                <a:cs typeface="Arial"/>
              </a:rPr>
              <a:t>SEND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30221ED-6AA1-4581-BC97-4A16848AC0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400050"/>
            <a:ext cx="5524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572471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572471"/>
                </a:solidFill>
                <a:latin typeface="Arial"/>
                <a:ea typeface="Arial"/>
                <a:cs typeface="Arial"/>
              </a:rPr>
              <a:t>10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563D017-1577-4DE6-80DD-475A99B62C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7010400"/>
            <a:ext cx="69532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DED0"/>
          </a:solidFill>
          <a:ln xmlns:a="http://schemas.openxmlformats.org/drawingml/2006/main" w="0">
            <a:noFill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4DE410C-A43D-4764-B965-A923ECDA24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7153275"/>
            <a:ext cx="52387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534C5B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34C5B"/>
                </a:solidFill>
                <a:latin typeface="Arial"/>
                <a:ea typeface="Arial"/>
                <a:cs typeface="Arial"/>
              </a:rPr>
              <a:t>Larry’s step-by-step guide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7815FDB-AB33-4F6A-B607-67442FD0FF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409700"/>
            <a:ext cx="6858000" cy="1181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225" b="1">
                <a:solidFill>
                  <a:srgbClr val="261C34"/>
                </a:solidFill>
                <a:latin typeface="Arial"/>
                <a:ea typeface="Arial"/>
                <a:cs typeface="Arial"/>
              </a:defRPr>
            </a:pPr>
            <a:r>
              <a:rPr sz="3225" b="1">
                <a:solidFill>
                  <a:srgbClr val="261C34"/>
                </a:solidFill>
                <a:latin typeface="Arial"/>
                <a:ea typeface="Arial"/>
                <a:cs typeface="Arial"/>
              </a:rPr>
              <a:t>Start on both phones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D487F10-C45D-4FA6-B360-1D4C844B28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019425"/>
            <a:ext cx="1333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A522"/>
          </a:solidFill>
          <a:ln xmlns:a="http://schemas.openxmlformats.org/drawingml/2006/main" w="0">
            <a:noFill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F5BFA6E-F607-4799-BA1B-CFD9382DB3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933700"/>
            <a:ext cx="6334125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175" b="0">
                <a:solidFill>
                  <a:srgbClr val="261C34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261C34"/>
                </a:solidFill>
                <a:latin typeface="Arial"/>
                <a:ea typeface="Arial"/>
                <a:cs typeface="Arial"/>
              </a:rPr>
              <a:t>Open the same BibleTransfer123 address on both phones.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AF54798-4B01-4CA9-8452-7E67199469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086225"/>
            <a:ext cx="1333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A522"/>
          </a:solidFill>
          <a:ln xmlns:a="http://schemas.openxmlformats.org/drawingml/2006/main" w="0">
            <a:noFill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913A588-DB8C-44E9-A7FE-C949B1BA04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4000500"/>
            <a:ext cx="6334125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175" b="0">
                <a:solidFill>
                  <a:srgbClr val="261C34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261C34"/>
                </a:solidFill>
                <a:latin typeface="Arial"/>
                <a:ea typeface="Arial"/>
                <a:cs typeface="Arial"/>
              </a:rPr>
              <a:t>Tap Send at the bottom. On the phone with the file, tap Send.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CCAE170-1B6C-4294-B423-E75B696445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5943600"/>
            <a:ext cx="6791325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534C5B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534C5B"/>
                </a:solidFill>
                <a:latin typeface="Arial"/>
                <a:ea typeface="Arial"/>
                <a:cs typeface="Arial"/>
              </a:rPr>
              <a:t>On the other phone, tap Receive.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3A7A2F9-9978-48E3-A373-A2A96B5529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100" y="161925"/>
            <a:ext cx="3600450" cy="7296150"/>
          </a:xfrm>
          <a:prstGeom xmlns:a="http://schemas.openxmlformats.org/drawingml/2006/main" prst="roundRect">
            <a:avLst>
              <a:gd name="adj" fmla="val 211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D9D1C5"/>
            </a:solidFill>
          </a:ln>
        </p:spPr>
      </p:sp>
      <p:pic>
        <p:nvPicPr>
          <p:cNvPr id="2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aef9c54bdd34e06"/>
          <a:stretch xmlns:a="http://schemas.openxmlformats.org/drawingml/2006/main"/>
        </p:blipFill>
        <p:spPr>
          <a:xfrm xmlns:a="http://schemas.openxmlformats.org/drawingml/2006/main">
            <a:off x="8123661" y="219075"/>
            <a:ext cx="3431328" cy="718185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13774666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FFDF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4576F53-2F58-4E0F-A5C1-2E9DA9C0EE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04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72471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1BF1951-3239-4DC2-A865-B690E52598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76225"/>
            <a:ext cx="4953000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572471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572471"/>
                </a:solidFill>
                <a:latin typeface="Arial"/>
                <a:ea typeface="Arial"/>
                <a:cs typeface="Arial"/>
              </a:rPr>
              <a:t>BibleTransfer123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5162D09-B225-4821-9448-0EBC524D80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790575"/>
            <a:ext cx="2381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D92C32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D92C32"/>
                </a:solidFill>
                <a:latin typeface="Arial"/>
                <a:ea typeface="Arial"/>
                <a:cs typeface="Arial"/>
              </a:rPr>
              <a:t>SEND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48C5C7F-16C1-4BB8-BE60-722F5B0F3C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400050"/>
            <a:ext cx="5524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572471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572471"/>
                </a:solidFill>
                <a:latin typeface="Arial"/>
                <a:ea typeface="Arial"/>
                <a:cs typeface="Arial"/>
              </a:rPr>
              <a:t>11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28B6856-E4DF-4CDA-BC4A-14C1C14B36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7010400"/>
            <a:ext cx="69532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DED0"/>
          </a:solidFill>
          <a:ln xmlns:a="http://schemas.openxmlformats.org/drawingml/2006/main" w="0">
            <a:noFill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3779825-A11D-4E3C-87AD-B34F95843C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7153275"/>
            <a:ext cx="52387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534C5B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34C5B"/>
                </a:solidFill>
                <a:latin typeface="Arial"/>
                <a:ea typeface="Arial"/>
                <a:cs typeface="Arial"/>
              </a:rPr>
              <a:t>Larry’s step-by-step guide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3E9810F-979D-4A18-B63B-D04269EFAE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409700"/>
            <a:ext cx="6858000" cy="1181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225" b="1">
                <a:solidFill>
                  <a:srgbClr val="261C34"/>
                </a:solidFill>
                <a:latin typeface="Arial"/>
                <a:ea typeface="Arial"/>
                <a:cs typeface="Arial"/>
              </a:defRPr>
            </a:pPr>
            <a:r>
              <a:rPr sz="3225" b="1">
                <a:solidFill>
                  <a:srgbClr val="261C34"/>
                </a:solidFill>
                <a:latin typeface="Arial"/>
                <a:ea typeface="Arial"/>
                <a:cs typeface="Arial"/>
              </a:rPr>
              <a:t>Read the six-digit code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49768A2-1BBB-42E5-B870-4061500384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019425"/>
            <a:ext cx="1333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A522"/>
          </a:solidFill>
          <a:ln xmlns:a="http://schemas.openxmlformats.org/drawingml/2006/main" w="0">
            <a:noFill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6AD0541-7770-4EA6-864E-5B782BD635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933700"/>
            <a:ext cx="6334125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175" b="0">
                <a:solidFill>
                  <a:srgbClr val="261C34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261C34"/>
                </a:solidFill>
                <a:latin typeface="Arial"/>
                <a:ea typeface="Arial"/>
                <a:cs typeface="Arial"/>
              </a:rPr>
              <a:t>The sending phone shows a six-digit code.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E1105C8-3CBE-4700-B924-244D96DF26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086225"/>
            <a:ext cx="1333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A522"/>
          </a:solidFill>
          <a:ln xmlns:a="http://schemas.openxmlformats.org/drawingml/2006/main" w="0">
            <a:noFill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196367D-09F2-4419-A587-36ED6227CF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4000500"/>
            <a:ext cx="6334125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175" b="0">
                <a:solidFill>
                  <a:srgbClr val="261C34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261C34"/>
                </a:solidFill>
                <a:latin typeface="Arial"/>
                <a:ea typeface="Arial"/>
                <a:cs typeface="Arial"/>
              </a:rPr>
              <a:t>Tell the other person that code.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9E909CD-527A-4A29-9E17-FFDD86163C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5943600"/>
            <a:ext cx="6791325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534C5B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534C5B"/>
                </a:solidFill>
                <a:latin typeface="Arial"/>
                <a:ea typeface="Arial"/>
                <a:cs typeface="Arial"/>
              </a:rPr>
              <a:t>The number in this picture is only an example. Yours will be different.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556449A-94AA-4585-8D3F-1849F2B8DE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100" y="161925"/>
            <a:ext cx="3600450" cy="7296150"/>
          </a:xfrm>
          <a:prstGeom xmlns:a="http://schemas.openxmlformats.org/drawingml/2006/main" prst="roundRect">
            <a:avLst>
              <a:gd name="adj" fmla="val 211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D9D1C5"/>
            </a:solidFill>
          </a:ln>
        </p:spPr>
      </p:sp>
      <p:pic>
        <p:nvPicPr>
          <p:cNvPr id="2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15770bd4b8046bd"/>
          <a:stretch xmlns:a="http://schemas.openxmlformats.org/drawingml/2006/main"/>
        </p:blipFill>
        <p:spPr>
          <a:xfrm xmlns:a="http://schemas.openxmlformats.org/drawingml/2006/main">
            <a:off x="8123661" y="219075"/>
            <a:ext cx="3431328" cy="718185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70623566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FFDF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62A97A7-D688-44CC-96B7-5A76BC5840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04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72471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CB4F899-B387-42D9-9425-160000288F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76225"/>
            <a:ext cx="4953000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572471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572471"/>
                </a:solidFill>
                <a:latin typeface="Arial"/>
                <a:ea typeface="Arial"/>
                <a:cs typeface="Arial"/>
              </a:rPr>
              <a:t>BibleTransfer123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E88B758-C8AA-4C95-A4FC-2B11044059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790575"/>
            <a:ext cx="2381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D92C32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D92C32"/>
                </a:solidFill>
                <a:latin typeface="Arial"/>
                <a:ea typeface="Arial"/>
                <a:cs typeface="Arial"/>
              </a:rPr>
              <a:t>SEND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4D6984C-8E12-48CF-B250-47DDEB7FD5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400050"/>
            <a:ext cx="5524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572471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572471"/>
                </a:solidFill>
                <a:latin typeface="Arial"/>
                <a:ea typeface="Arial"/>
                <a:cs typeface="Arial"/>
              </a:rPr>
              <a:t>12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B5FF371-791C-4AE1-ACFE-E389F08424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7010400"/>
            <a:ext cx="69532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DED0"/>
          </a:solidFill>
          <a:ln xmlns:a="http://schemas.openxmlformats.org/drawingml/2006/main" w="0">
            <a:noFill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7AD4EDB-0E1E-4B9E-9005-2B26B652F7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7153275"/>
            <a:ext cx="52387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534C5B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34C5B"/>
                </a:solidFill>
                <a:latin typeface="Arial"/>
                <a:ea typeface="Arial"/>
                <a:cs typeface="Arial"/>
              </a:rPr>
              <a:t>Larry’s step-by-step guide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35BD309-88D1-4EDE-BC66-7B7C9E7FEC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409700"/>
            <a:ext cx="6858000" cy="1181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225" b="1">
                <a:solidFill>
                  <a:srgbClr val="261C34"/>
                </a:solidFill>
                <a:latin typeface="Arial"/>
                <a:ea typeface="Arial"/>
                <a:cs typeface="Arial"/>
              </a:defRPr>
            </a:pPr>
            <a:r>
              <a:rPr sz="3225" b="1">
                <a:solidFill>
                  <a:srgbClr val="261C34"/>
                </a:solidFill>
                <a:latin typeface="Arial"/>
                <a:ea typeface="Arial"/>
                <a:cs typeface="Arial"/>
              </a:rPr>
              <a:t>Connect the receiving phone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723E5D8-0335-4D46-A7D0-2862F65B78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019425"/>
            <a:ext cx="1333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A522"/>
          </a:solidFill>
          <a:ln xmlns:a="http://schemas.openxmlformats.org/drawingml/2006/main" w="0">
            <a:noFill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EE3A495-877D-43BE-99A8-F3596D526C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933700"/>
            <a:ext cx="6334125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175" b="0">
                <a:solidFill>
                  <a:srgbClr val="261C34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261C34"/>
                </a:solidFill>
                <a:latin typeface="Arial"/>
                <a:ea typeface="Arial"/>
                <a:cs typeface="Arial"/>
              </a:rPr>
              <a:t>On the other phone, tap Receive.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9329B5D-65CB-4727-A281-027CC40195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086225"/>
            <a:ext cx="1333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A522"/>
          </a:solidFill>
          <a:ln xmlns:a="http://schemas.openxmlformats.org/drawingml/2006/main" w="0">
            <a:noFill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C0AA86B-58DC-4949-9F54-CEA604161C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4000500"/>
            <a:ext cx="6334125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175" b="0">
                <a:solidFill>
                  <a:srgbClr val="261C34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261C34"/>
                </a:solidFill>
                <a:latin typeface="Arial"/>
                <a:ea typeface="Arial"/>
                <a:cs typeface="Arial"/>
              </a:rPr>
              <a:t>Type the six digits shown on the sending phone.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9C4AF5D-5809-40FA-BD08-D1C34EC851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5943600"/>
            <a:ext cx="6791325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534C5B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534C5B"/>
                </a:solidFill>
                <a:latin typeface="Arial"/>
                <a:ea typeface="Arial"/>
                <a:cs typeface="Arial"/>
              </a:rPr>
              <a:t>Wait for the phones to connect.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4784DF6-7460-4FD4-8E33-9C6AA26244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100" y="161925"/>
            <a:ext cx="3600450" cy="7296150"/>
          </a:xfrm>
          <a:prstGeom xmlns:a="http://schemas.openxmlformats.org/drawingml/2006/main" prst="roundRect">
            <a:avLst>
              <a:gd name="adj" fmla="val 211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D9D1C5"/>
            </a:solidFill>
          </a:ln>
        </p:spPr>
      </p:sp>
      <p:pic>
        <p:nvPicPr>
          <p:cNvPr id="2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075553a33624164"/>
          <a:stretch xmlns:a="http://schemas.openxmlformats.org/drawingml/2006/main"/>
        </p:blipFill>
        <p:spPr>
          <a:xfrm xmlns:a="http://schemas.openxmlformats.org/drawingml/2006/main">
            <a:off x="8123661" y="219075"/>
            <a:ext cx="3431328" cy="718185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04353764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FFDF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E5F9808-AD5B-4164-8FC3-689B46EE9E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04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72471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9273030-B907-4140-B38B-0AE4564660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76225"/>
            <a:ext cx="4953000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572471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572471"/>
                </a:solidFill>
                <a:latin typeface="Arial"/>
                <a:ea typeface="Arial"/>
                <a:cs typeface="Arial"/>
              </a:rPr>
              <a:t>BibleTransfer123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0F1930D-2184-40E9-912A-1E869E1CBF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790575"/>
            <a:ext cx="2381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D92C32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D92C32"/>
                </a:solidFill>
                <a:latin typeface="Arial"/>
                <a:ea typeface="Arial"/>
                <a:cs typeface="Arial"/>
              </a:rPr>
              <a:t>SEND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8020255-4CF2-4F6D-B1D7-5BD35AF4E8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400050"/>
            <a:ext cx="5524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572471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572471"/>
                </a:solidFill>
                <a:latin typeface="Arial"/>
                <a:ea typeface="Arial"/>
                <a:cs typeface="Arial"/>
              </a:rPr>
              <a:t>13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4E9C107-52E8-4548-ABCF-B73689E8F6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7010400"/>
            <a:ext cx="69532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DED0"/>
          </a:solidFill>
          <a:ln xmlns:a="http://schemas.openxmlformats.org/drawingml/2006/main" w="0">
            <a:noFill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E20A6D5-99E1-4CD0-B877-48561DC962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7153275"/>
            <a:ext cx="52387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534C5B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34C5B"/>
                </a:solidFill>
                <a:latin typeface="Arial"/>
                <a:ea typeface="Arial"/>
                <a:cs typeface="Arial"/>
              </a:rPr>
              <a:t>Larry’s step-by-step guide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E58DD35-1F4C-4126-BC9C-EBD3A2D9B1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409700"/>
            <a:ext cx="6858000" cy="1181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225" b="1">
                <a:solidFill>
                  <a:srgbClr val="261C34"/>
                </a:solidFill>
                <a:latin typeface="Arial"/>
                <a:ea typeface="Arial"/>
                <a:cs typeface="Arial"/>
              </a:defRPr>
            </a:pPr>
            <a:r>
              <a:rPr sz="3225" b="1">
                <a:solidFill>
                  <a:srgbClr val="261C34"/>
                </a:solidFill>
                <a:latin typeface="Arial"/>
                <a:ea typeface="Arial"/>
                <a:cs typeface="Arial"/>
              </a:rPr>
              <a:t>Choose the file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28E7F27-C0E7-410B-B6DB-F122814B52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019425"/>
            <a:ext cx="1333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A522"/>
          </a:solidFill>
          <a:ln xmlns:a="http://schemas.openxmlformats.org/drawingml/2006/main" w="0">
            <a:noFill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94F3705-D2C1-46B0-87C1-65A882084D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933700"/>
            <a:ext cx="6334125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175" b="0">
                <a:solidFill>
                  <a:srgbClr val="261C34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261C34"/>
                </a:solidFill>
                <a:latin typeface="Arial"/>
                <a:ea typeface="Arial"/>
                <a:cs typeface="Arial"/>
              </a:rPr>
              <a:t>On the sending phone, tap Choose a file from this phone.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22930C6-8199-4CAC-8482-4779BB7F2B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086225"/>
            <a:ext cx="1333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A522"/>
          </a:solidFill>
          <a:ln xmlns:a="http://schemas.openxmlformats.org/drawingml/2006/main" w="0">
            <a:noFill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035284D-4C5E-468A-81B1-D18C77969C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4000500"/>
            <a:ext cx="6334125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175" b="0">
                <a:solidFill>
                  <a:srgbClr val="261C34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261C34"/>
                </a:solidFill>
                <a:latin typeface="Arial"/>
                <a:ea typeface="Arial"/>
                <a:cs typeface="Arial"/>
              </a:rPr>
              <a:t>Pick the file you saved earlier.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53FDD52-074B-47EA-B4AA-AF2B251039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5943600"/>
            <a:ext cx="6791325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534C5B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534C5B"/>
                </a:solidFill>
                <a:latin typeface="Arial"/>
                <a:ea typeface="Arial"/>
                <a:cs typeface="Arial"/>
              </a:rPr>
              <a:t>The connected device name may be different from the example shown.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3350C7D-1A11-4F58-854C-3AD27511F5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100" y="161925"/>
            <a:ext cx="3600450" cy="7296150"/>
          </a:xfrm>
          <a:prstGeom xmlns:a="http://schemas.openxmlformats.org/drawingml/2006/main" prst="roundRect">
            <a:avLst>
              <a:gd name="adj" fmla="val 211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D9D1C5"/>
            </a:solidFill>
          </a:ln>
        </p:spPr>
      </p:sp>
      <p:pic>
        <p:nvPicPr>
          <p:cNvPr id="2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abca643a27c4772"/>
          <a:stretch xmlns:a="http://schemas.openxmlformats.org/drawingml/2006/main"/>
        </p:blipFill>
        <p:spPr>
          <a:xfrm xmlns:a="http://schemas.openxmlformats.org/drawingml/2006/main">
            <a:off x="8123661" y="219075"/>
            <a:ext cx="3431328" cy="718185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3758227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FFDF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51F670C-1A83-41F5-B51B-07E9F34C99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04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72471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FE254C0-0614-4D91-8AEC-EE30A4630C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76225"/>
            <a:ext cx="4953000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572471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572471"/>
                </a:solidFill>
                <a:latin typeface="Arial"/>
                <a:ea typeface="Arial"/>
                <a:cs typeface="Arial"/>
              </a:rPr>
              <a:t>BibleTransfer123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D178B0E-C106-4781-BB45-21ACCBAF7B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790575"/>
            <a:ext cx="2381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D92C32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D92C32"/>
                </a:solidFill>
                <a:latin typeface="Arial"/>
                <a:ea typeface="Arial"/>
                <a:cs typeface="Arial"/>
              </a:rPr>
              <a:t>SEND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9ED5F94-4854-420D-A44D-88DA25ACC3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400050"/>
            <a:ext cx="5524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572471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572471"/>
                </a:solidFill>
                <a:latin typeface="Arial"/>
                <a:ea typeface="Arial"/>
                <a:cs typeface="Arial"/>
              </a:rPr>
              <a:t>14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D9D0281-96B5-4084-90DA-6DA18DE64F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7010400"/>
            <a:ext cx="69532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DED0"/>
          </a:solidFill>
          <a:ln xmlns:a="http://schemas.openxmlformats.org/drawingml/2006/main" w="0">
            <a:noFill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1500F39-61AE-4DEC-B563-BD7B981D2B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7153275"/>
            <a:ext cx="52387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534C5B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34C5B"/>
                </a:solidFill>
                <a:latin typeface="Arial"/>
                <a:ea typeface="Arial"/>
                <a:cs typeface="Arial"/>
              </a:rPr>
              <a:t>Larry’s step-by-step guide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FC81991-6B28-4A16-8E3A-C108BD78E0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409700"/>
            <a:ext cx="6858000" cy="1181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225" b="1">
                <a:solidFill>
                  <a:srgbClr val="261C34"/>
                </a:solidFill>
                <a:latin typeface="Arial"/>
                <a:ea typeface="Arial"/>
                <a:cs typeface="Arial"/>
              </a:defRPr>
            </a:pPr>
            <a:r>
              <a:rPr sz="3225" b="1">
                <a:solidFill>
                  <a:srgbClr val="261C34"/>
                </a:solidFill>
                <a:latin typeface="Arial"/>
                <a:ea typeface="Arial"/>
                <a:cs typeface="Arial"/>
              </a:rPr>
              <a:t>Accept on the other phone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FC85E84-3841-4F25-9256-B6694B9099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019425"/>
            <a:ext cx="1333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A522"/>
          </a:solidFill>
          <a:ln xmlns:a="http://schemas.openxmlformats.org/drawingml/2006/main" w="0">
            <a:noFill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BAD7645-9604-470D-A45A-7DBACEE0D8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933700"/>
            <a:ext cx="6334125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175" b="0">
                <a:solidFill>
                  <a:srgbClr val="261C34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261C34"/>
                </a:solidFill>
                <a:latin typeface="Arial"/>
                <a:ea typeface="Arial"/>
                <a:cs typeface="Arial"/>
              </a:rPr>
              <a:t>Check the file name on the receiving phone.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C8AFBF8-19F9-4BDB-A8D4-65B7032DA4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086225"/>
            <a:ext cx="1333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A522"/>
          </a:solidFill>
          <a:ln xmlns:a="http://schemas.openxmlformats.org/drawingml/2006/main" w="0">
            <a:noFill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6AB0420-99EB-4B5C-9F29-23B43ABCB2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4000500"/>
            <a:ext cx="6334125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175" b="0">
                <a:solidFill>
                  <a:srgbClr val="261C34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261C34"/>
                </a:solidFill>
                <a:latin typeface="Arial"/>
                <a:ea typeface="Arial"/>
                <a:cs typeface="Arial"/>
              </a:rPr>
              <a:t>Tap Accept. Wait for the transfer to finish.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9AD1CC6-0B1A-4EF0-8298-D8A3605A25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5943600"/>
            <a:ext cx="6791325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534C5B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534C5B"/>
                </a:solidFill>
                <a:latin typeface="Arial"/>
                <a:ea typeface="Arial"/>
                <a:cs typeface="Arial"/>
              </a:rPr>
              <a:t>A folder choice may also appear on some devices.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5052F32-745D-468B-BA5D-C31DD880C5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100" y="161925"/>
            <a:ext cx="3600450" cy="7296150"/>
          </a:xfrm>
          <a:prstGeom xmlns:a="http://schemas.openxmlformats.org/drawingml/2006/main" prst="roundRect">
            <a:avLst>
              <a:gd name="adj" fmla="val 211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D9D1C5"/>
            </a:solidFill>
          </a:ln>
        </p:spPr>
      </p:sp>
      <p:pic>
        <p:nvPicPr>
          <p:cNvPr id="2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611711a95ca499c"/>
          <a:stretch xmlns:a="http://schemas.openxmlformats.org/drawingml/2006/main"/>
        </p:blipFill>
        <p:spPr>
          <a:xfrm xmlns:a="http://schemas.openxmlformats.org/drawingml/2006/main">
            <a:off x="8123661" y="219075"/>
            <a:ext cx="3431328" cy="718185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42541074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FFFDF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2D262C5-CCAC-446A-BB63-2C11395488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04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72471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A7F3D8D-F3C2-4C3F-8469-348562D63B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76225"/>
            <a:ext cx="4953000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572471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572471"/>
                </a:solidFill>
                <a:latin typeface="Arial"/>
                <a:ea typeface="Arial"/>
                <a:cs typeface="Arial"/>
              </a:rPr>
              <a:t>BibleTransfer123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7C4CB1D-ADF1-4593-B670-43DE563F79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790575"/>
            <a:ext cx="2381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D92C32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D92C32"/>
                </a:solidFill>
                <a:latin typeface="Arial"/>
                <a:ea typeface="Arial"/>
                <a:cs typeface="Arial"/>
              </a:rPr>
              <a:t>SEND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325DA96-1C9B-4EF6-A9A7-8B94BC5078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400050"/>
            <a:ext cx="5524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572471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572471"/>
                </a:solidFill>
                <a:latin typeface="Arial"/>
                <a:ea typeface="Arial"/>
                <a:cs typeface="Arial"/>
              </a:rPr>
              <a:t>15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5FF1B13-B1E4-4F5B-8D2A-B458E0F2C0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7010400"/>
            <a:ext cx="69532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DED0"/>
          </a:solidFill>
          <a:ln xmlns:a="http://schemas.openxmlformats.org/drawingml/2006/main" w="0">
            <a:noFill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E13427E-976C-45F2-8140-27D746376D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7153275"/>
            <a:ext cx="52387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534C5B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34C5B"/>
                </a:solidFill>
                <a:latin typeface="Arial"/>
                <a:ea typeface="Arial"/>
                <a:cs typeface="Arial"/>
              </a:rPr>
              <a:t>Larry’s step-by-step guide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7A67A53-85EA-4987-8950-3483DBDB01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409700"/>
            <a:ext cx="6858000" cy="1181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225" b="1">
                <a:solidFill>
                  <a:srgbClr val="261C34"/>
                </a:solidFill>
                <a:latin typeface="Arial"/>
                <a:ea typeface="Arial"/>
                <a:cs typeface="Arial"/>
              </a:defRPr>
            </a:pPr>
            <a:r>
              <a:rPr sz="3225" b="1">
                <a:solidFill>
                  <a:srgbClr val="261C34"/>
                </a:solidFill>
                <a:latin typeface="Arial"/>
                <a:ea typeface="Arial"/>
                <a:cs typeface="Arial"/>
              </a:rPr>
              <a:t>Save and check the copy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FE4502C-334D-49D6-9915-F099AEEF79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019425"/>
            <a:ext cx="1333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A522"/>
          </a:solidFill>
          <a:ln xmlns:a="http://schemas.openxmlformats.org/drawingml/2006/main" w="0">
            <a:noFill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852355B-13D7-466E-A2B4-CF310CB84B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933700"/>
            <a:ext cx="6334125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175" b="0">
                <a:solidFill>
                  <a:srgbClr val="261C34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261C34"/>
                </a:solidFill>
                <a:latin typeface="Arial"/>
                <a:ea typeface="Arial"/>
                <a:cs typeface="Arial"/>
              </a:rPr>
              <a:t>On the receiving phone, tap Save.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41BE5A7-2757-4596-B40B-010C9AAE40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086225"/>
            <a:ext cx="1333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A522"/>
          </a:solidFill>
          <a:ln xmlns:a="http://schemas.openxmlformats.org/drawingml/2006/main" w="0">
            <a:noFill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27D8F31-D468-4D83-BE29-8A20E05C95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4000500"/>
            <a:ext cx="6334125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175" b="0">
                <a:solidFill>
                  <a:srgbClr val="261C34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261C34"/>
                </a:solidFill>
                <a:latin typeface="Arial"/>
                <a:ea typeface="Arial"/>
                <a:cs typeface="Arial"/>
              </a:rPr>
              <a:t>Open the saved file once to check it works.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4E24B7C-2D72-4E23-AD3F-A0A181AE31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5943600"/>
            <a:ext cx="6791325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534C5B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534C5B"/>
                </a:solidFill>
                <a:latin typeface="Arial"/>
                <a:ea typeface="Arial"/>
                <a:cs typeface="Arial"/>
              </a:rPr>
              <a:t>The sample file in this picture was used only to demonstrate the steps.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CE0ECFE-F669-4708-B8FF-9D192A72D2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100" y="161925"/>
            <a:ext cx="3600450" cy="7296150"/>
          </a:xfrm>
          <a:prstGeom xmlns:a="http://schemas.openxmlformats.org/drawingml/2006/main" prst="roundRect">
            <a:avLst>
              <a:gd name="adj" fmla="val 211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D9D1C5"/>
            </a:solidFill>
          </a:ln>
        </p:spPr>
      </p:sp>
      <p:pic>
        <p:nvPicPr>
          <p:cNvPr id="2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72c73961c0e4072"/>
          <a:stretch xmlns:a="http://schemas.openxmlformats.org/drawingml/2006/main"/>
        </p:blipFill>
        <p:spPr>
          <a:xfrm xmlns:a="http://schemas.openxmlformats.org/drawingml/2006/main">
            <a:off x="8123661" y="219075"/>
            <a:ext cx="3431328" cy="718185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35951386"/>
      </p:ext>
    </p:extLst>
  </p:cSld>
</p:sld>
</file>

<file path=ppt/slides/slide16.xml><?xml version="1.0" encoding="utf-8"?>
<p:sld xmlns:p="http://schemas.openxmlformats.org/presentationml/2006/main">
  <p:cSld>
    <p:bg>
      <p:bgPr>
        <a:solidFill xmlns:a="http://schemas.openxmlformats.org/drawingml/2006/main">
          <a:srgbClr val="FFFDF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2160A1D-53B8-4AD9-A81E-6E8F17922E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04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72471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62FBCB2-D0C8-42E2-889E-923D32EE25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76225"/>
            <a:ext cx="4953000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572471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572471"/>
                </a:solidFill>
                <a:latin typeface="Arial"/>
                <a:ea typeface="Arial"/>
                <a:cs typeface="Arial"/>
              </a:rPr>
              <a:t>BibleTransfer123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4FD8507-B430-42D1-954B-92FA1FA397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790575"/>
            <a:ext cx="2381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D92C32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D92C32"/>
                </a:solidFill>
                <a:latin typeface="Arial"/>
                <a:ea typeface="Arial"/>
                <a:cs typeface="Arial"/>
              </a:rPr>
              <a:t>MORE WAYS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D5A7202-9318-40EC-89EB-92811564E6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400050"/>
            <a:ext cx="5524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572471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572471"/>
                </a:solidFill>
                <a:latin typeface="Arial"/>
                <a:ea typeface="Arial"/>
                <a:cs typeface="Arial"/>
              </a:rPr>
              <a:t>16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5CC4F4F-DD00-4196-A09C-852717B000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7010400"/>
            <a:ext cx="69532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DED0"/>
          </a:solidFill>
          <a:ln xmlns:a="http://schemas.openxmlformats.org/drawingml/2006/main" w="0">
            <a:noFill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CE74792-28B1-4D84-8AD3-4903D77607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7153275"/>
            <a:ext cx="52387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534C5B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34C5B"/>
                </a:solidFill>
                <a:latin typeface="Arial"/>
                <a:ea typeface="Arial"/>
                <a:cs typeface="Arial"/>
              </a:rPr>
              <a:t>Larry’s step-by-step guide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D193B0F-A1D1-46F0-B24A-F365813DA8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409700"/>
            <a:ext cx="6858000" cy="1181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225" b="1">
                <a:solidFill>
                  <a:srgbClr val="261C34"/>
                </a:solidFill>
                <a:latin typeface="Arial"/>
                <a:ea typeface="Arial"/>
                <a:cs typeface="Arial"/>
              </a:defRPr>
            </a:pPr>
            <a:r>
              <a:rPr sz="3225" b="1">
                <a:solidFill>
                  <a:srgbClr val="261C34"/>
                </a:solidFill>
                <a:latin typeface="Arial"/>
                <a:ea typeface="Arial"/>
                <a:cs typeface="Arial"/>
              </a:rPr>
              <a:t>For other device combinations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98BADE5-EEFB-4FE3-8C23-F934F3F7EE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019425"/>
            <a:ext cx="1333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A522"/>
          </a:solidFill>
          <a:ln xmlns:a="http://schemas.openxmlformats.org/drawingml/2006/main" w="0">
            <a:noFill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6762635-4B96-42FA-997B-E478625220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933700"/>
            <a:ext cx="6334125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175" b="0">
                <a:solidFill>
                  <a:srgbClr val="261C34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261C34"/>
                </a:solidFill>
                <a:latin typeface="Arial"/>
                <a:ea typeface="Arial"/>
                <a:cs typeface="Arial"/>
              </a:rPr>
              <a:t>Open the Guide and choose the sharing instructions.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93C940B-CC60-49E9-A2D8-D2B16B92CF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086225"/>
            <a:ext cx="1333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A522"/>
          </a:solidFill>
          <a:ln xmlns:a="http://schemas.openxmlformats.org/drawingml/2006/main" w="0">
            <a:noFill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0AB4DF5-26B1-45A2-B17C-AE03996B13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4000500"/>
            <a:ext cx="6334125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175" b="0">
                <a:solidFill>
                  <a:srgbClr val="261C34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261C34"/>
                </a:solidFill>
                <a:latin typeface="Arial"/>
                <a:ea typeface="Arial"/>
                <a:cs typeface="Arial"/>
              </a:rPr>
              <a:t>Pick the device you are sending FROM.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8AAEBDB-4038-44C1-87C0-63661C3319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5943600"/>
            <a:ext cx="6791325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534C5B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534C5B"/>
                </a:solidFill>
                <a:latin typeface="Arial"/>
                <a:ea typeface="Arial"/>
                <a:cs typeface="Arial"/>
              </a:rPr>
              <a:t>The guide covers phones, computers, and a microSD card.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79DCFF2-63A2-4333-8200-7FA71A0588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100" y="161925"/>
            <a:ext cx="3600450" cy="7296150"/>
          </a:xfrm>
          <a:prstGeom xmlns:a="http://schemas.openxmlformats.org/drawingml/2006/main" prst="roundRect">
            <a:avLst>
              <a:gd name="adj" fmla="val 211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D9D1C5"/>
            </a:solidFill>
          </a:ln>
        </p:spPr>
      </p:sp>
      <p:pic>
        <p:nvPicPr>
          <p:cNvPr id="2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e238406b7754330"/>
          <a:stretch xmlns:a="http://schemas.openxmlformats.org/drawingml/2006/main"/>
        </p:blipFill>
        <p:spPr>
          <a:xfrm xmlns:a="http://schemas.openxmlformats.org/drawingml/2006/main">
            <a:off x="8123661" y="219075"/>
            <a:ext cx="3431328" cy="718185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72764876"/>
      </p:ext>
    </p:extLst>
  </p:cSld>
</p:sld>
</file>

<file path=ppt/slides/slide17.xml><?xml version="1.0" encoding="utf-8"?>
<p:sld xmlns:p="http://schemas.openxmlformats.org/presentationml/2006/main">
  <p:cSld>
    <p:bg>
      <p:bgPr>
        <a:solidFill xmlns:a="http://schemas.openxmlformats.org/drawingml/2006/main">
          <a:srgbClr val="FFFDF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7DC645D-7FFC-4A11-B85C-48EADC1DEB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04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72471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CF8178D-3D97-488E-8E3B-F370853B23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76225"/>
            <a:ext cx="4953000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572471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572471"/>
                </a:solidFill>
                <a:latin typeface="Arial"/>
                <a:ea typeface="Arial"/>
                <a:cs typeface="Arial"/>
              </a:rPr>
              <a:t>BibleTransfer123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37DA669-2A7A-47B3-BA0E-1542D2E508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790575"/>
            <a:ext cx="2381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D92C32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D92C32"/>
                </a:solidFill>
                <a:latin typeface="Arial"/>
                <a:ea typeface="Arial"/>
                <a:cs typeface="Arial"/>
              </a:rPr>
              <a:t>MORE WAYS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B18CD1F-F856-4C21-906B-BDEC9D097B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400050"/>
            <a:ext cx="5524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572471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572471"/>
                </a:solidFill>
                <a:latin typeface="Arial"/>
                <a:ea typeface="Arial"/>
                <a:cs typeface="Arial"/>
              </a:rPr>
              <a:t>17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6F83CA0-231A-4ECA-AC9D-5D128ED19D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7010400"/>
            <a:ext cx="69532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DED0"/>
          </a:solidFill>
          <a:ln xmlns:a="http://schemas.openxmlformats.org/drawingml/2006/main" w="0">
            <a:noFill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8F86B63-60A4-46B4-9AF4-B3277296BA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7153275"/>
            <a:ext cx="52387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534C5B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34C5B"/>
                </a:solidFill>
                <a:latin typeface="Arial"/>
                <a:ea typeface="Arial"/>
                <a:cs typeface="Arial"/>
              </a:rPr>
              <a:t>Larry’s step-by-step guide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6D5D853-C952-4590-AABF-9C93F99209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409700"/>
            <a:ext cx="6858000" cy="1181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225" b="1">
                <a:solidFill>
                  <a:srgbClr val="261C34"/>
                </a:solidFill>
                <a:latin typeface="Arial"/>
                <a:ea typeface="Arial"/>
                <a:cs typeface="Arial"/>
              </a:defRPr>
            </a:pPr>
            <a:r>
              <a:rPr sz="3225" b="1">
                <a:solidFill>
                  <a:srgbClr val="261C34"/>
                </a:solidFill>
                <a:latin typeface="Arial"/>
                <a:ea typeface="Arial"/>
                <a:cs typeface="Arial"/>
              </a:rPr>
              <a:t>Choose the receiving device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5C689AF-4526-4B2C-A1D6-AA8F4CDBE7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019425"/>
            <a:ext cx="1333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A522"/>
          </a:solidFill>
          <a:ln xmlns:a="http://schemas.openxmlformats.org/drawingml/2006/main" w="0">
            <a:noFill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F0226C9-4646-4E55-B2FF-1F06E4C4E3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933700"/>
            <a:ext cx="6334125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175" b="0">
                <a:solidFill>
                  <a:srgbClr val="261C34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261C34"/>
                </a:solidFill>
                <a:latin typeface="Arial"/>
                <a:ea typeface="Arial"/>
                <a:cs typeface="Arial"/>
              </a:rPr>
              <a:t>Pick the device you are sending TO.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582FF06-FAC7-4EF7-9EE2-3B92B6F8C6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086225"/>
            <a:ext cx="1333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A522"/>
          </a:solidFill>
          <a:ln xmlns:a="http://schemas.openxmlformats.org/drawingml/2006/main" w="0">
            <a:noFill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83E387A-EB42-4984-9A34-6025681F1B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4000500"/>
            <a:ext cx="6334125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175" b="0">
                <a:solidFill>
                  <a:srgbClr val="261C34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261C34"/>
                </a:solidFill>
                <a:latin typeface="Arial"/>
                <a:ea typeface="Arial"/>
                <a:cs typeface="Arial"/>
              </a:rPr>
              <a:t>Follow the numbered steps the app gives you.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D0DB7AE-E867-4026-8AE0-3DE0B42F5C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5943600"/>
            <a:ext cx="6791325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534C5B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534C5B"/>
                </a:solidFill>
                <a:latin typeface="Arial"/>
                <a:ea typeface="Arial"/>
                <a:cs typeface="Arial"/>
              </a:rPr>
              <a:t>The example here is an iPhone sending to Android.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07EA717-84C8-4046-BB2C-1E65C47957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100" y="161925"/>
            <a:ext cx="3600450" cy="7296150"/>
          </a:xfrm>
          <a:prstGeom xmlns:a="http://schemas.openxmlformats.org/drawingml/2006/main" prst="roundRect">
            <a:avLst>
              <a:gd name="adj" fmla="val 211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D9D1C5"/>
            </a:solidFill>
          </a:ln>
        </p:spPr>
      </p:sp>
      <p:pic>
        <p:nvPicPr>
          <p:cNvPr id="2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e5977e54d834b62"/>
          <a:stretch xmlns:a="http://schemas.openxmlformats.org/drawingml/2006/main"/>
        </p:blipFill>
        <p:spPr>
          <a:xfrm xmlns:a="http://schemas.openxmlformats.org/drawingml/2006/main">
            <a:off x="8123661" y="219075"/>
            <a:ext cx="3431328" cy="718185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41604374"/>
      </p:ext>
    </p:extLst>
  </p:cSld>
</p:sld>
</file>

<file path=ppt/slides/slide18.xml><?xml version="1.0" encoding="utf-8"?>
<p:sld xmlns:p="http://schemas.openxmlformats.org/presentationml/2006/main">
  <p:cSld>
    <p:bg>
      <p:bgPr>
        <a:solidFill xmlns:a="http://schemas.openxmlformats.org/drawingml/2006/main">
          <a:srgbClr val="FFFDF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A53EBA7-E4CB-4ED0-BE0C-B12C5DA3C8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04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72471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A579AFE-343D-491E-886E-AE0E18357A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76225"/>
            <a:ext cx="4953000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572471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572471"/>
                </a:solidFill>
                <a:latin typeface="Arial"/>
                <a:ea typeface="Arial"/>
                <a:cs typeface="Arial"/>
              </a:rPr>
              <a:t>BibleTransfer123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B77B608-B123-425E-ADC8-034E9B700E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790575"/>
            <a:ext cx="2381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D92C32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D92C32"/>
                </a:solidFill>
                <a:latin typeface="Arial"/>
                <a:ea typeface="Arial"/>
                <a:cs typeface="Arial"/>
              </a:rPr>
              <a:t>REMEMBER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BDAE2F9-AE0B-4047-A78B-0B5013384C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400050"/>
            <a:ext cx="5524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572471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572471"/>
                </a:solidFill>
                <a:latin typeface="Arial"/>
                <a:ea typeface="Arial"/>
                <a:cs typeface="Arial"/>
              </a:rPr>
              <a:t>18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2AAD5E7-40B3-461E-A6A2-6E7BC000BE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7010400"/>
            <a:ext cx="69532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DED0"/>
          </a:solidFill>
          <a:ln xmlns:a="http://schemas.openxmlformats.org/drawingml/2006/main" w="0">
            <a:noFill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17A5DB6-A0F1-4222-9D0C-61FF352C76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7153275"/>
            <a:ext cx="52387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534C5B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34C5B"/>
                </a:solidFill>
                <a:latin typeface="Arial"/>
                <a:ea typeface="Arial"/>
                <a:cs typeface="Arial"/>
              </a:rPr>
              <a:t>Larry’s step-by-step guide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D1D11F7-A890-494A-9119-8AD0E5CEF3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409700"/>
            <a:ext cx="6858000" cy="1181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225" b="1">
                <a:solidFill>
                  <a:srgbClr val="261C34"/>
                </a:solidFill>
                <a:latin typeface="Arial"/>
                <a:ea typeface="Arial"/>
                <a:cs typeface="Arial"/>
              </a:defRPr>
            </a:pPr>
            <a:r>
              <a:rPr sz="3225" b="1">
                <a:solidFill>
                  <a:srgbClr val="261C34"/>
                </a:solidFill>
                <a:latin typeface="Arial"/>
                <a:ea typeface="Arial"/>
                <a:cs typeface="Arial"/>
              </a:rPr>
              <a:t>Three useful things to remember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E847CC8-5F3F-41BE-90A8-6C375D2D53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019425"/>
            <a:ext cx="1333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A522"/>
          </a:solidFill>
          <a:ln xmlns:a="http://schemas.openxmlformats.org/drawingml/2006/main" w="0">
            <a:noFill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DFDB411-137A-4830-9D20-926DB882B0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933700"/>
            <a:ext cx="6334125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175" b="0">
                <a:solidFill>
                  <a:srgbClr val="261C34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261C34"/>
                </a:solidFill>
                <a:latin typeface="Arial"/>
                <a:ea typeface="Arial"/>
                <a:cs typeface="Arial"/>
              </a:rPr>
              <a:t>A saved file stays on the phone after you leave the site.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5D9F361-D1B2-46AC-8CAE-9A192D6412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086225"/>
            <a:ext cx="1333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A522"/>
          </a:solidFill>
          <a:ln xmlns:a="http://schemas.openxmlformats.org/drawingml/2006/main" w="0">
            <a:noFill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82D294E-E6E6-4AE4-AC45-3CAE3468CB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4000500"/>
            <a:ext cx="6334125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175" b="0">
                <a:solidFill>
                  <a:srgbClr val="261C34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261C34"/>
                </a:solidFill>
                <a:latin typeface="Arial"/>
                <a:ea typeface="Arial"/>
                <a:cs typeface="Arial"/>
              </a:rPr>
              <a:t>On the website, an internet connection is needed for streaming and pairing.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6D29C7B-58E0-4B06-8CB5-3427E4D95C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5153025"/>
            <a:ext cx="1333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A522"/>
          </a:solidFill>
          <a:ln xmlns:a="http://schemas.openxmlformats.org/drawingml/2006/main" w="0">
            <a:noFill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8159E04-F548-4D87-8058-61732767DB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5067300"/>
            <a:ext cx="6334125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175" b="0">
                <a:solidFill>
                  <a:srgbClr val="261C34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261C34"/>
                </a:solidFill>
                <a:latin typeface="Arial"/>
                <a:ea typeface="Arial"/>
                <a:cs typeface="Arial"/>
              </a:rPr>
              <a:t>Try one small file first, then open it on the receiving phone.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72582B6-A9FD-4E2A-843B-1FF9796522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5943600"/>
            <a:ext cx="6791325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534C5B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534C5B"/>
                </a:solidFill>
                <a:latin typeface="Arial"/>
                <a:ea typeface="Arial"/>
                <a:cs typeface="Arial"/>
              </a:rPr>
              <a:t>A prepared card or VillageServer can serve packed files without internet.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868BC44-1720-477F-AAA2-F38192A1F2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100" y="161925"/>
            <a:ext cx="3600450" cy="7296150"/>
          </a:xfrm>
          <a:prstGeom xmlns:a="http://schemas.openxmlformats.org/drawingml/2006/main" prst="roundRect">
            <a:avLst>
              <a:gd name="adj" fmla="val 211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D9D1C5"/>
            </a:solidFill>
          </a:ln>
        </p:spPr>
      </p:sp>
      <p:pic>
        <p:nvPicPr>
          <p:cNvPr id="3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6140424d42b49fb"/>
          <a:stretch xmlns:a="http://schemas.openxmlformats.org/drawingml/2006/main"/>
        </p:blipFill>
        <p:spPr>
          <a:xfrm xmlns:a="http://schemas.openxmlformats.org/drawingml/2006/main">
            <a:off x="8123661" y="219075"/>
            <a:ext cx="3431328" cy="718185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50655837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2026-09-18T00:32:35.1390000Z</dcterms:created>
  <dcterms:modified xsi:type="dcterms:W3CDTF">2026-09-18T00:32:35.1390000Z</dcterms:modified>
</coreProperties>
</file>